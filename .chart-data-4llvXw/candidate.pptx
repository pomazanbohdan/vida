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cb1cb3d00fa4de9" /><Relationship Type="http://schemas.openxmlformats.org/officeDocument/2006/relationships/extended-properties" Target="/docProps/app.xml" Id="R7892d17d75c4456e" /><Relationship Type="http://schemas.openxmlformats.org/officeDocument/2006/relationships/officeDocument" Target="/ppt/presentation.xml" Id="Re35d38e61cd24cea" /></Relationships>
</file>

<file path=ppt/presentation.xml><?xml version="1.0" encoding="utf-8"?>
<p:presentation xmlns:p="http://schemas.openxmlformats.org/presentationml/2006/main">
  <p:sldMasterIdLst>
    <p:sldMasterId xmlns:r="http://schemas.openxmlformats.org/officeDocument/2006/relationships" id="2147483648" r:id="R2b4e2370da8f4c13"/>
  </p:sldMasterIdLst>
  <p:notesMasterIdLst>
    <p:notesMasterId xmlns:r="http://schemas.openxmlformats.org/officeDocument/2006/relationships" r:id="R5c8cb8349aaa4747"/>
  </p:notesMasterIdLst>
  <p:sldIdLst>
    <p:sldId xmlns:r="http://schemas.openxmlformats.org/officeDocument/2006/relationships" id="256" r:id="R2115ca30ea724528"/>
    <p:sldId xmlns:r="http://schemas.openxmlformats.org/officeDocument/2006/relationships" id="257" r:id="R67ae4cd36cea47d4"/>
    <p:sldId xmlns:r="http://schemas.openxmlformats.org/officeDocument/2006/relationships" id="258" r:id="R3b4b07b669bb45cf"/>
    <p:sldId xmlns:r="http://schemas.openxmlformats.org/officeDocument/2006/relationships" id="259" r:id="R97df075e441444da"/>
    <p:sldId xmlns:r="http://schemas.openxmlformats.org/officeDocument/2006/relationships" id="260" r:id="Raf59b66bd6634064"/>
    <p:sldId xmlns:r="http://schemas.openxmlformats.org/officeDocument/2006/relationships" id="261" r:id="Re7624e21398d417d"/>
    <p:sldId xmlns:r="http://schemas.openxmlformats.org/officeDocument/2006/relationships" id="262" r:id="R485bbcf30b85404a"/>
    <p:sldId xmlns:r="http://schemas.openxmlformats.org/officeDocument/2006/relationships" id="263" r:id="Rc55a51f1a857416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655d8a0ef3a44c0" /><Relationship Type="http://schemas.openxmlformats.org/officeDocument/2006/relationships/slideMaster" Target="/ppt/slideMasters/slideMaster1.xml" Id="R2b4e2370da8f4c13" /><Relationship Type="http://schemas.openxmlformats.org/officeDocument/2006/relationships/notesMaster" Target="/ppt/notesMasters/notesMaster1.xml" Id="R5c8cb8349aaa4747" /><Relationship Type="http://schemas.openxmlformats.org/officeDocument/2006/relationships/presProps" Target="/ppt/presProps.xml" Id="R80564063ae4f4374" /><Relationship Type="http://schemas.openxmlformats.org/officeDocument/2006/relationships/tableStyles" Target="/ppt/tableStyles.xml" Id="Rc02b496edb69465f" /><Relationship Type="http://schemas.openxmlformats.org/officeDocument/2006/relationships/slide" Target="/ppt/slides/slide1.xml" Id="R2115ca30ea724528" /><Relationship Type="http://schemas.openxmlformats.org/officeDocument/2006/relationships/slide" Target="/ppt/slides/slide2.xml" Id="R67ae4cd36cea47d4" /><Relationship Type="http://schemas.openxmlformats.org/officeDocument/2006/relationships/slide" Target="/ppt/slides/slide3.xml" Id="R3b4b07b669bb45cf" /><Relationship Type="http://schemas.openxmlformats.org/officeDocument/2006/relationships/slide" Target="/ppt/slides/slide4.xml" Id="R97df075e441444da" /><Relationship Type="http://schemas.openxmlformats.org/officeDocument/2006/relationships/slide" Target="/ppt/slides/slide5.xml" Id="Raf59b66bd6634064" /><Relationship Type="http://schemas.openxmlformats.org/officeDocument/2006/relationships/slide" Target="/ppt/slides/slide6.xml" Id="Re7624e21398d417d" /><Relationship Type="http://schemas.openxmlformats.org/officeDocument/2006/relationships/slide" Target="/ppt/slides/slide7.xml" Id="R485bbcf30b85404a" /><Relationship Type="http://schemas.openxmlformats.org/officeDocument/2006/relationships/slide" Target="/ppt/slides/slide8.xml" Id="Rc55a51f1a857416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e86f7b67874473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3571cf0ea6946b7" /><Relationship Type="http://schemas.openxmlformats.org/officeDocument/2006/relationships/notesMaster" Target="/ppt/notesMasters/notesMaster1.xml" Id="R1846e55007a445e6"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cda6a46548486e" /><Relationship Type="http://schemas.openxmlformats.org/officeDocument/2006/relationships/notesMaster" Target="/ppt/notesMasters/notesMaster1.xml" Id="R84bce3cc4c7c495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4ddad5591d640f7" /><Relationship Type="http://schemas.openxmlformats.org/officeDocument/2006/relationships/notesMaster" Target="/ppt/notesMasters/notesMaster1.xml" Id="R5df3eb8693a24a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22455729bc124ed2" /><Relationship Type="http://schemas.openxmlformats.org/officeDocument/2006/relationships/notesMaster" Target="/ppt/notesMasters/notesMaster1.xml" Id="R900bd1a909204b96" /></Relationships>
</file>

<file path=ppt/notesSlides/_rels/notesSlide5.xml.rels>&#65279;<?xml version="1.0" encoding="utf-8"?><Relationships xmlns="http://schemas.openxmlformats.org/package/2006/relationships"><Relationship Type="http://schemas.openxmlformats.org/officeDocument/2006/relationships/slide" Target="/ppt/slides/slide5.xml" Id="R4946d582f22443ba" /><Relationship Type="http://schemas.openxmlformats.org/officeDocument/2006/relationships/notesMaster" Target="/ppt/notesMasters/notesMaster1.xml" Id="R2eba437a57ae4a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85eea9cd19584359" /><Relationship Type="http://schemas.openxmlformats.org/officeDocument/2006/relationships/notesMaster" Target="/ppt/notesMasters/notesMaster1.xml" Id="R00a0487830734f24"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6828b6e6fd4d92" /><Relationship Type="http://schemas.openxmlformats.org/officeDocument/2006/relationships/notesMaster" Target="/ppt/notesMasters/notesMaster1.xml" Id="R5de48f78995b4de5" /></Relationships>
</file>

<file path=ppt/notesSlides/_rels/notesSlide8.xml.rels>&#65279;<?xml version="1.0" encoding="utf-8"?><Relationships xmlns="http://schemas.openxmlformats.org/package/2006/relationships"><Relationship Type="http://schemas.openxmlformats.org/officeDocument/2006/relationships/slide" Target="/ppt/slides/slide8.xml" Id="R607d6d49b3aa4d5d" /><Relationship Type="http://schemas.openxmlformats.org/officeDocument/2006/relationships/notesMaster" Target="/ppt/notesMasters/notesMaster1.xml" Id="R5bee3bc0c45b46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Тривалість: 30 секунд.</a:t>
            </a:r>
          </a:p>
          <a:p xmlns:a="http://schemas.openxmlformats.org/drawingml/2006/main">
            <a:r>
              <a:t/>
            </a:r>
          </a:p>
          <a:p xmlns:a="http://schemas.openxmlformats.org/drawingml/2006/main">
            <a:r>
              <a:t>Уявімо звичайну командну зустріч. Ми домовилися про рішення в чаті, описали його в документі, а задачу створили в іншому сервісі. Коли повертаємося до роботи, доводиться відновлювати причини та шукати посилання. VIDA задумана як простір, у якому цей контекст зберігається разом із дією. Сьогодні я запрошую розробників допомогти перевірити та реалізувати цю ідею.</a:t>
            </a:r>
          </a:p>
          <a:p xmlns:a="http://schemas.openxmlformats.org/drawingml/2006/main">
            <a:r>
              <a:t/>
            </a:r>
          </a:p>
          <a:p xmlns:a="http://schemas.openxmlformats.org/drawingml/2006/main">
            <a:r>
              <a:t>Джерела: Концепція VIDA та технічні матеріали сайту https://vida-project.pomazan-bogdan.chatgpt.site/#technical-details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Тривалість: 35 секунд.</a:t>
            </a:r>
          </a:p>
          <a:p xmlns:a="http://schemas.openxmlformats.org/drawingml/2006/main">
            <a:r>
              <a:t/>
            </a:r>
          </a:p>
          <a:p xmlns:a="http://schemas.openxmlformats.org/drawingml/2006/main">
            <a:r>
              <a:t>VIDA розділяє особистий і спільний простір. Людина обирає, що зберігає для себе, а що відкриває команді. Local-first означає, що доступні дані та локальна робота не залежать від постійного з’єднання. Подальший обмін потребує доступного авторизованого вузла. Ми не обіцяємо, що будь-яка серверна дія доступна офлайн. Ця модель є цільовим дизайном продукту, а не заявою про готовий реліз.</a:t>
            </a:r>
          </a:p>
          <a:p xmlns:a="http://schemas.openxmlformats.org/drawingml/2006/main">
            <a:r>
              <a:t/>
            </a:r>
          </a:p>
          <a:p xmlns:a="http://schemas.openxmlformats.org/drawingml/2006/main">
            <a:r>
              <a:t>Джерела: Концепція VIDA та технічні матеріали сайту https://vida-project.pomazan-bogdan.chatgpt.site/#technical-details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Тривалість: 40 секунд.</a:t>
            </a:r>
          </a:p>
          <a:p xmlns:a="http://schemas.openxmlformats.org/drawingml/2006/main">
            <a:r>
              <a:t/>
            </a:r>
          </a:p>
          <a:p xmlns:a="http://schemas.openxmlformats.org/drawingml/2006/main">
            <a:r>
              <a:t>Покажу короткий сценарій. У чаті є повідомлення про підготовку зустрічі. Натискаємо збереження рішення й відкриваємо нотатку. З неї переходимо до задачі та позначаємо виконання. Посилання назад зберігає контекст. На сайті це три кроки з підказками й перезапуском. Це інтерфейсний концепт: він не надсилає повідомлень у мережу й не демонструє реалізовану синхронізацію VIDA. Він допомагає перевірити, чи зрозумілий людям сам сценарій.</a:t>
            </a:r>
          </a:p>
          <a:p xmlns:a="http://schemas.openxmlformats.org/drawingml/2006/main">
            <a:r>
              <a:t/>
            </a:r>
          </a:p>
          <a:p xmlns:a="http://schemas.openxmlformats.org/drawingml/2006/main">
            <a:r>
              <a:t>Джерела: Концепція VIDA та технічні матеріали сайту https://vida-project.pomazan-bogdan.chatgpt.site/#technical-details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Тривалість: 45 секунд.</a:t>
            </a:r>
          </a:p>
          <a:p xmlns:a="http://schemas.openxmlformats.org/drawingml/2006/main">
            <a:r>
              <a:t/>
            </a:r>
          </a:p>
          <a:p xmlns:a="http://schemas.openxmlformats.org/drawingml/2006/main">
            <a:r>
              <a:t>Архітектура відокремлює інтерфейс від правил. Flutter показує екрани, Rust core визначає ресурси, команди та права, runtime керує інфраструктурою. Iroh створює захищений транспортний канал. Він не вирішує, хто може редагувати документ чи підтверджувати запис до бізнесу. У цільовій native-політиці VIDA прямий шлях пріоритетний, relay допомагає зі зв’язком. Relay не зберігає повідомлення для офлайн-адресата. Локальне збереження, доставка та доменне прийняття мають окремі підтвердження. Реалізаційні деталі перевіряємо прототипами.</a:t>
            </a:r>
          </a:p>
          <a:p xmlns:a="http://schemas.openxmlformats.org/drawingml/2006/main">
            <a:r>
              <a:t/>
            </a:r>
          </a:p>
          <a:p xmlns:a="http://schemas.openxmlformats.org/drawingml/2006/main">
            <a:r>
              <a:t>Джерела: Концепція VIDA та технічні матеріали сайту https://vida-project.pomazan-bogdan.chatgpt.site/#technical-details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Тривалість: 35 секунд.</a:t>
            </a:r>
          </a:p>
          <a:p xmlns:a="http://schemas.openxmlformats.org/drawingml/2006/main">
            <a:r>
              <a:t/>
            </a:r>
          </a:p>
          <a:p xmlns:a="http://schemas.openxmlformats.org/drawingml/2006/main">
            <a:r>
              <a:t>Застосунки поєднують стандартні можливості з власними ресурсами та процесами. CRM використовує контакт і розмову, але додає бізнесові поля. ОСББ додає заявки й погодження. Сервіс запису потребує власної логіки доступності. Окрема міська платформа може мати новинний сайт, backend і свій App у VIDA. Маркетплейс та зовнішні джерела поширюють пакети. Підключення пакета саме по собі не надає доступу до приватних даних. Бізнесові сценарії заплановані та потребують окремих специфікацій.</a:t>
            </a:r>
          </a:p>
          <a:p xmlns:a="http://schemas.openxmlformats.org/drawingml/2006/main">
            <a:r>
              <a:t/>
            </a:r>
          </a:p>
          <a:p xmlns:a="http://schemas.openxmlformats.org/drawingml/2006/main">
            <a:r>
              <a:t>Джерела: Концепція VIDA та технічні матеріали сайту https://vida-project.pomazan-bogdan.chatgpt.site/#technical-details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Тривалість: 45 секунд.</a:t>
            </a:r>
          </a:p>
          <a:p xmlns:a="http://schemas.openxmlformats.org/drawingml/2006/main">
            <a:r>
              <a:t/>
            </a:r>
          </a:p>
          <a:p xmlns:a="http://schemas.openxmlformats.org/drawingml/2006/main">
            <a:r>
              <a:t>Ресерч за вересень показує збільшення нашого каталогу від 54 до приблизно 102 окремих URL репозиторіїв. Це приблизно 48 нових записів за доступне вікно від 18 до 29 вересня. У найновішому доповненні п’ять URL: Walkie, FarSail, Portal, ahole та ErisAuth. Теми охоплюють агентні середовища, віддалений доступ, файли й авторизацію. Це показує широту знайдених застосувань. Ми не називаємо всі ці проєкти створеними за місяць: частина має давнішу історію, а повної бази за останні 30 днів немає. Розширення нашого огляду не є виміром зростання всієї екосистеми.</a:t>
            </a:r>
          </a:p>
          <a:p xmlns:a="http://schemas.openxmlformats.org/drawingml/2006/main">
            <a:r>
              <a:t/>
            </a:r>
          </a:p>
          <a:p xmlns:a="http://schemas.openxmlformats.org/drawingml/2006/main">
            <a:r>
              <a:t>Джерела: research/iroh-local-first-research-index-2026-09-18.md, вступ, актуалізація 29.09.2026; research/iroh-reference-projects-update-2026-09-29.md. Опублікована методика: https://vida-project.pomazan-bogdan.chatgpt.site/reference/iroh-research-september.md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Тривалість: 35 секунд.</a:t>
            </a:r>
          </a:p>
          <a:p xmlns:a="http://schemas.openxmlformats.org/drawingml/2006/main">
            <a:r>
              <a:t/>
            </a:r>
          </a:p>
          <a:p xmlns:a="http://schemas.openxmlformats.org/drawingml/2006/main">
            <a:r>
              <a:t>Реалізовано. Презентаційний сайт. Навігація та інтерактивні пояснення працюють у браузері. Це результат сайту, не реліз VIDA. Прототип. Розмова, нотатка, задача. Інтерактивний концепт демонструє зв’язок контексту. Дані існують лише на сторінці. Заплановано. Продукт і застосунки. Базовий набір VIDA, клієнти Flutter та бізнес-застосунки. Дату публічного релізу не оголошено. Відкрите рішення. Реалізаційні перевірки. Редактор і CRDT, browser transport, media/E2EE та деталі форматів потребують перевірки. Архітектурні межі описані в документації. Наявність такого опису не означає, що всі компоненти вже працюють у продукті. Ця межа важлива для чесного запрошення до розробки.</a:t>
            </a:r>
          </a:p>
          <a:p xmlns:a="http://schemas.openxmlformats.org/drawingml/2006/main">
            <a:r>
              <a:t/>
            </a:r>
          </a:p>
          <a:p xmlns:a="http://schemas.openxmlformats.org/drawingml/2006/main">
            <a:r>
              <a:t>Джерела: Концепція VIDA та технічні матеріали сайту https://vida-project.pomazan-bogdan.chatgpt.site/#technical-details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Тривалість: 35 секунд.</a:t>
            </a:r>
          </a:p>
          <a:p xmlns:a="http://schemas.openxmlformats.org/drawingml/2006/main">
            <a:r>
              <a:t/>
            </a:r>
          </a:p>
          <a:p xmlns:a="http://schemas.openxmlformats.org/drawingml/2006/main">
            <a:r>
              <a:t>Запрошуємо людей із Rust, Flutter, тестування, UX і документації. Найкращий початок — невелика зрозуміла ділянка, погоджена з супроводжувачем. Наприклад, сценарій конфлікту, пояснення SDK або перевірка зрозумілості статусів. Це запропоновані напрями, а не готові призначення. На 29 вересня відкритих issues із міткою good first issue не знайдено. Тому сайт веде до актуального репозиторію. Приєднуйтеся, щоб перетворити описані контракти на перевірену реалізацію.</a:t>
            </a:r>
          </a:p>
          <a:p xmlns:a="http://schemas.openxmlformats.org/drawingml/2006/main">
            <a:r>
              <a:t/>
            </a:r>
          </a:p>
          <a:p xmlns:a="http://schemas.openxmlformats.org/drawingml/2006/main">
            <a:r>
              <a:t>Джерела: https://github.com/pomazanbohdan/vida; GitHub issue search repo:pomazanbohdan/vida is:issue is:open label:"good first issue", 29.09.2026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25c1e4216a4f2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811fc4b0384efe" /><Relationship Type="http://schemas.openxmlformats.org/officeDocument/2006/relationships/slideLayout" Target="/ppt/slideLayouts/slideLayout1.xml" Id="R909f2858be084de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09f2858be084d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a9c478639c44955" /><Relationship Type="http://schemas.openxmlformats.org/officeDocument/2006/relationships/notesSlide" Target="/ppt/notesSlides/notesSlide1.xml" Id="R10d2dac3b2a64a6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61b40d43a9e48d6" /><Relationship Type="http://schemas.openxmlformats.org/officeDocument/2006/relationships/image" Target="/ppt/media/image.png" Id="Rff0867ea550849b4" /><Relationship Type="http://schemas.openxmlformats.org/officeDocument/2006/relationships/notesSlide" Target="/ppt/notesSlides/notesSlide2.xml" Id="R87234e1f2f5c400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687d28793c94c09" /><Relationship Type="http://schemas.openxmlformats.org/officeDocument/2006/relationships/notesSlide" Target="/ppt/notesSlides/notesSlide3.xml" Id="Rbad85fe1db57427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410b69882174ded" /><Relationship Type="http://schemas.openxmlformats.org/officeDocument/2006/relationships/notesSlide" Target="/ppt/notesSlides/notesSlide4.xml" Id="Rf91984b920b94eb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6c1396683c5404a" /><Relationship Type="http://schemas.openxmlformats.org/officeDocument/2006/relationships/notesSlide" Target="/ppt/notesSlides/notesSlide5.xml" Id="Rfc4c749bfafa4b1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e58caca74b34b51" /><Relationship Type="http://schemas.openxmlformats.org/officeDocument/2006/relationships/chart" Target="/ppt/slides/charts/chart1.xml" Id="Rfda93e5b14324736" /><Relationship Type="http://schemas.openxmlformats.org/officeDocument/2006/relationships/notesSlide" Target="/ppt/notesSlides/notesSlide6.xml" Id="R538d4cb09e274d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09fbf9efd8b4860" /><Relationship Type="http://schemas.openxmlformats.org/officeDocument/2006/relationships/notesSlide" Target="/ppt/notesSlides/notesSlide7.xml" Id="Rb91ea6a0d753453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1361bee95564d53" /><Relationship Type="http://schemas.openxmlformats.org/officeDocument/2006/relationships/notesSlide" Target="/ppt/notesSlides/notesSlide8.xml" Id="Rff5e7eaf4d4e427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URL у каталозі</c:v>
          </c:tx>
          <c:spPr>
            <a:solidFill xmlns:a="http://schemas.openxmlformats.org/drawingml/2006/main">
              <a:srgbClr val="A74E36"/>
            </a:solidFill>
          </c:spPr>
          <c:cat>
            <c:numRef>
              <c:f>'Chart Data'!$A$2:$A$9</c:f>
              <c:numCache>
                <c:formatCode>General</c:formatCode>
                <c:ptCount val="8"/>
                <c:pt idx="0">
                  <c:v>18.09</c:v>
                </c:pt>
                <c:pt idx="1">
                  <c:v>21.09</c:v>
                </c:pt>
                <c:pt idx="2">
                  <c:v>22.09</c:v>
                </c:pt>
                <c:pt idx="3">
                  <c:v>23.09</c:v>
                </c:pt>
                <c:pt idx="4">
                  <c:v>24.09</c:v>
                </c:pt>
                <c:pt idx="5">
                  <c:v>25.09</c:v>
                </c:pt>
                <c:pt idx="6">
                  <c:v>27.09</c:v>
                </c:pt>
                <c:pt idx="7">
                  <c:v>29.09</c:v>
                </c:pt>
              </c:numCache>
            </c:numRef>
          </c:cat>
          <c:val>
            <c:numRef>
              <c:f>'Chart Data'!$B$2:$B$9</c:f>
              <c:numCache>
                <c:formatCode>General</c:formatCode>
                <c:ptCount val="8"/>
                <c:pt idx="0">
                  <c:v>54</c:v>
                </c:pt>
                <c:pt idx="1">
                  <c:v>74</c:v>
                </c:pt>
                <c:pt idx="2">
                  <c:v>78</c:v>
                </c:pt>
                <c:pt idx="3">
                  <c:v>85</c:v>
                </c:pt>
                <c:pt idx="4">
                  <c:v>88</c:v>
                </c:pt>
                <c:pt idx="5">
                  <c:v>91</c:v>
                </c:pt>
                <c:pt idx="6">
                  <c:v>97</c:v>
                </c:pt>
                <c:pt idx="7">
                  <c:v>102</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DFC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B3D6046-54A8-48DE-809A-083357FF12EE}"/>
              </a:ext>
            </a:extLst>
          </p:cNvPr>
          <p:cNvSpPr>
            <a:spLocks xmlns:a="http://schemas.openxmlformats.org/drawingml/2006/main" noGrp="1"/>
          </p:cNvSpPr>
          <p:nvPr/>
        </p:nvSpPr>
        <p:spPr>
          <a:xfrm xmlns:a="http://schemas.openxmlformats.org/drawingml/2006/main">
            <a:off x="666750" y="523875"/>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9202E"/>
                </a:solidFill>
                <a:latin typeface="Arial"/>
                <a:ea typeface="Arial"/>
                <a:cs typeface="Arial"/>
              </a:defRPr>
            </a:pPr>
            <a:r>
              <a:rPr sz="3600" b="1">
                <a:solidFill>
                  <a:srgbClr val="19202E"/>
                </a:solidFill>
                <a:latin typeface="Arial"/>
                <a:ea typeface="Arial"/>
                <a:cs typeface="Arial"/>
              </a:rPr>
              <a:t>Контекст губиться між інструментами</a:t>
            </a:r>
          </a:p>
        </p:txBody>
      </p:sp>
      <p:sp>
        <p:nvSpPr>
          <p:cNvPr id="2" name="">
            <a:extLst xmlns:a="http://schemas.openxmlformats.org/drawingml/2006/main">
              <a:ext uri="{FF2B5EF4-FFF2-40B4-BE49-F238E27FC236}">
                <a16:creationId xmlns:a16="http://schemas.microsoft.com/office/drawing/2014/main" id="{1F80EBF4-3296-41D8-BEE7-05D8A602BB6B}"/>
              </a:ext>
            </a:extLst>
          </p:cNvPr>
          <p:cNvSpPr>
            <a:spLocks xmlns:a="http://schemas.openxmlformats.org/drawingml/2006/main" noGrp="1"/>
          </p:cNvSpPr>
          <p:nvPr/>
        </p:nvSpPr>
        <p:spPr>
          <a:xfrm xmlns:a="http://schemas.openxmlformats.org/drawingml/2006/main">
            <a:off x="666750" y="62865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656E"/>
                </a:solidFill>
                <a:latin typeface="Arial"/>
                <a:ea typeface="Arial"/>
                <a:cs typeface="Arial"/>
              </a:defRPr>
            </a:pPr>
            <a:r>
              <a:rPr sz="1275" b="0">
                <a:solidFill>
                  <a:srgbClr val="5E656E"/>
                </a:solidFill>
                <a:latin typeface="Arial"/>
                <a:ea typeface="Arial"/>
                <a:cs typeface="Arial"/>
              </a:rPr>
              <a:t>VIDA   /   1 з 8</a:t>
            </a:r>
          </a:p>
        </p:txBody>
      </p:sp>
      <p:sp>
        <p:nvSpPr>
          <p:cNvPr id="3" name="">
            <a:extLst xmlns:a="http://schemas.openxmlformats.org/drawingml/2006/main">
              <a:ext uri="{FF2B5EF4-FFF2-40B4-BE49-F238E27FC236}">
                <a16:creationId xmlns:a16="http://schemas.microsoft.com/office/drawing/2014/main" id="{F3DE800A-6EF8-4CB0-8A87-AC938D750E72}"/>
              </a:ext>
            </a:extLst>
          </p:cNvPr>
          <p:cNvSpPr>
            <a:spLocks xmlns:a="http://schemas.openxmlformats.org/drawingml/2006/main" noGrp="1"/>
          </p:cNvSpPr>
          <p:nvPr/>
        </p:nvSpPr>
        <p:spPr>
          <a:xfrm xmlns:a="http://schemas.openxmlformats.org/drawingml/2006/main">
            <a:off x="666750" y="2190750"/>
            <a:ext cx="64770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19202E"/>
                </a:solidFill>
                <a:latin typeface="Arial"/>
                <a:ea typeface="Arial"/>
                <a:cs typeface="Arial"/>
              </a:defRPr>
            </a:pPr>
            <a:r>
              <a:rPr sz="2775" b="0">
                <a:solidFill>
                  <a:srgbClr val="19202E"/>
                </a:solidFill>
                <a:latin typeface="Arial"/>
                <a:ea typeface="Arial"/>
                <a:cs typeface="Arial"/>
              </a:rPr>
              <a:t>Розмова залишається в чаті.</a:t>
            </a:r>
          </a:p>
          <a:p xmlns:a="http://schemas.openxmlformats.org/drawingml/2006/main">
            <a:pPr>
              <a:defRPr sz="2775" b="0">
                <a:solidFill>
                  <a:srgbClr val="19202E"/>
                </a:solidFill>
                <a:latin typeface="Arial"/>
                <a:ea typeface="Arial"/>
                <a:cs typeface="Arial"/>
              </a:defRPr>
            </a:pPr>
            <a:r>
              <a:rPr sz="2775" b="0">
                <a:solidFill>
                  <a:srgbClr val="19202E"/>
                </a:solidFill>
                <a:latin typeface="Arial"/>
                <a:ea typeface="Arial"/>
                <a:cs typeface="Arial"/>
              </a:rPr>
              <a:t>Рішення живе в окремій нотатці.</a:t>
            </a:r>
          </a:p>
          <a:p xmlns:a="http://schemas.openxmlformats.org/drawingml/2006/main">
            <a:pPr>
              <a:defRPr sz="2775" b="0">
                <a:solidFill>
                  <a:srgbClr val="19202E"/>
                </a:solidFill>
                <a:latin typeface="Arial"/>
                <a:ea typeface="Arial"/>
                <a:cs typeface="Arial"/>
              </a:defRPr>
            </a:pPr>
            <a:r>
              <a:rPr sz="2775" b="0">
                <a:solidFill>
                  <a:srgbClr val="19202E"/>
                </a:solidFill>
                <a:latin typeface="Arial"/>
                <a:ea typeface="Arial"/>
                <a:cs typeface="Arial"/>
              </a:rPr>
              <a:t>Задача втрачає пояснення.</a:t>
            </a:r>
          </a:p>
        </p:txBody>
      </p:sp>
      <p:sp>
        <p:nvSpPr>
          <p:cNvPr id="4" name="">
            <a:extLst xmlns:a="http://schemas.openxmlformats.org/drawingml/2006/main">
              <a:ext uri="{FF2B5EF4-FFF2-40B4-BE49-F238E27FC236}">
                <a16:creationId xmlns:a16="http://schemas.microsoft.com/office/drawing/2014/main" id="{A3DC2E9D-1353-46D4-9733-05F61C1C7771}"/>
              </a:ext>
            </a:extLst>
          </p:cNvPr>
          <p:cNvSpPr>
            <a:spLocks xmlns:a="http://schemas.openxmlformats.org/drawingml/2006/main" noGrp="1"/>
          </p:cNvSpPr>
          <p:nvPr/>
        </p:nvSpPr>
        <p:spPr>
          <a:xfrm xmlns:a="http://schemas.openxmlformats.org/drawingml/2006/main">
            <a:off x="666750" y="4762500"/>
            <a:ext cx="7810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A74E36"/>
                </a:solidFill>
                <a:latin typeface="Arial"/>
                <a:ea typeface="Arial"/>
                <a:cs typeface="Arial"/>
              </a:defRPr>
            </a:pPr>
            <a:r>
              <a:rPr sz="2700" b="1">
                <a:solidFill>
                  <a:srgbClr val="A74E36"/>
                </a:solidFill>
                <a:latin typeface="Arial"/>
                <a:ea typeface="Arial"/>
                <a:cs typeface="Arial"/>
              </a:rPr>
              <a:t>VIDA пов’язує ці кроки</a:t>
            </a:r>
          </a:p>
          <a:p xmlns:a="http://schemas.openxmlformats.org/drawingml/2006/main">
            <a:pPr>
              <a:defRPr sz="2700" b="1">
                <a:solidFill>
                  <a:srgbClr val="A74E36"/>
                </a:solidFill>
                <a:latin typeface="Arial"/>
                <a:ea typeface="Arial"/>
                <a:cs typeface="Arial"/>
              </a:defRPr>
            </a:pPr>
            <a:r>
              <a:rPr sz="2700" b="1">
                <a:solidFill>
                  <a:srgbClr val="A74E36"/>
                </a:solidFill>
                <a:latin typeface="Arial"/>
                <a:ea typeface="Arial"/>
                <a:cs typeface="Arial"/>
              </a:rPr>
              <a:t>в одному просторі.</a:t>
            </a:r>
          </a:p>
        </p:txBody>
      </p:sp>
    </p:spTree>
    <p:extLst>
      <p:ext uri="{BB962C8B-B14F-4D97-AF65-F5344CB8AC3E}">
        <p14:creationId xmlns:p14="http://schemas.microsoft.com/office/powerpoint/2010/main" val="2035923385"/>
      </p:ext>
    </p:extLst>
  </p:cSld>
</p:sld>
</file>

<file path=ppt/slides/slide2.xml><?xml version="1.0" encoding="utf-8"?>
<p:sld xmlns:p="http://schemas.openxmlformats.org/presentationml/2006/main">
  <p:cSld>
    <p:bg>
      <p:bgPr>
        <a:solidFill xmlns:a="http://schemas.openxmlformats.org/drawingml/2006/main">
          <a:srgbClr val="FDFC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9163B44-7807-4E4C-A7F1-DAF408FDDB67}"/>
              </a:ext>
            </a:extLst>
          </p:cNvPr>
          <p:cNvSpPr>
            <a:spLocks xmlns:a="http://schemas.openxmlformats.org/drawingml/2006/main" noGrp="1"/>
          </p:cNvSpPr>
          <p:nvPr/>
        </p:nvSpPr>
        <p:spPr>
          <a:xfrm xmlns:a="http://schemas.openxmlformats.org/drawingml/2006/main">
            <a:off x="666750" y="523875"/>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9202E"/>
                </a:solidFill>
                <a:latin typeface="Arial"/>
                <a:ea typeface="Arial"/>
                <a:cs typeface="Arial"/>
              </a:defRPr>
            </a:pPr>
            <a:r>
              <a:rPr sz="3600" b="1">
                <a:solidFill>
                  <a:srgbClr val="19202E"/>
                </a:solidFill>
                <a:latin typeface="Arial"/>
                <a:ea typeface="Arial"/>
                <a:cs typeface="Arial"/>
              </a:rPr>
              <a:t>Особистий і спільний простір</a:t>
            </a:r>
          </a:p>
        </p:txBody>
      </p:sp>
      <p:sp>
        <p:nvSpPr>
          <p:cNvPr id="2" name="">
            <a:extLst xmlns:a="http://schemas.openxmlformats.org/drawingml/2006/main">
              <a:ext uri="{FF2B5EF4-FFF2-40B4-BE49-F238E27FC236}">
                <a16:creationId xmlns:a16="http://schemas.microsoft.com/office/drawing/2014/main" id="{8CCCAD58-5633-4A94-924E-F4D6873B2CDB}"/>
              </a:ext>
            </a:extLst>
          </p:cNvPr>
          <p:cNvSpPr>
            <a:spLocks xmlns:a="http://schemas.openxmlformats.org/drawingml/2006/main" noGrp="1"/>
          </p:cNvSpPr>
          <p:nvPr/>
        </p:nvSpPr>
        <p:spPr>
          <a:xfrm xmlns:a="http://schemas.openxmlformats.org/drawingml/2006/main">
            <a:off x="666750" y="62865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656E"/>
                </a:solidFill>
                <a:latin typeface="Arial"/>
                <a:ea typeface="Arial"/>
                <a:cs typeface="Arial"/>
              </a:defRPr>
            </a:pPr>
            <a:r>
              <a:rPr sz="1275" b="0">
                <a:solidFill>
                  <a:srgbClr val="5E656E"/>
                </a:solidFill>
                <a:latin typeface="Arial"/>
                <a:ea typeface="Arial"/>
                <a:cs typeface="Arial"/>
              </a:rPr>
              <a:t>VIDA   /   2 з 8</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f0867ea550849b4"/>
          <a:stretch xmlns:a="http://schemas.openxmlformats.org/drawingml/2006/main"/>
        </p:blipFill>
        <p:spPr>
          <a:xfrm xmlns:a="http://schemas.openxmlformats.org/drawingml/2006/main">
            <a:off x="7620000" y="1905000"/>
            <a:ext cx="3429000" cy="3429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1E8E852-54FB-423D-A68D-1830A3FE02E4}"/>
              </a:ext>
            </a:extLst>
          </p:cNvPr>
          <p:cNvSpPr>
            <a:spLocks xmlns:a="http://schemas.openxmlformats.org/drawingml/2006/main" noGrp="1"/>
          </p:cNvSpPr>
          <p:nvPr/>
        </p:nvSpPr>
        <p:spPr>
          <a:xfrm xmlns:a="http://schemas.openxmlformats.org/drawingml/2006/main">
            <a:off x="666750" y="2000250"/>
            <a:ext cx="647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A74E36"/>
                </a:solidFill>
                <a:latin typeface="Arial"/>
                <a:ea typeface="Arial"/>
                <a:cs typeface="Arial"/>
              </a:defRPr>
            </a:pPr>
            <a:r>
              <a:rPr sz="2625" b="1">
                <a:solidFill>
                  <a:srgbClr val="A74E36"/>
                </a:solidFill>
                <a:latin typeface="Arial"/>
                <a:ea typeface="Arial"/>
                <a:cs typeface="Arial"/>
              </a:rPr>
              <a:t>Локальні дані на пристрої</a:t>
            </a:r>
          </a:p>
        </p:txBody>
      </p:sp>
      <p:sp>
        <p:nvSpPr>
          <p:cNvPr id="5" name="">
            <a:extLst xmlns:a="http://schemas.openxmlformats.org/drawingml/2006/main">
              <a:ext uri="{FF2B5EF4-FFF2-40B4-BE49-F238E27FC236}">
                <a16:creationId xmlns:a16="http://schemas.microsoft.com/office/drawing/2014/main" id="{BF71CDBB-E2BE-44F9-8CA7-7DAD6423E179}"/>
              </a:ext>
            </a:extLst>
          </p:cNvPr>
          <p:cNvSpPr>
            <a:spLocks xmlns:a="http://schemas.openxmlformats.org/drawingml/2006/main" noGrp="1"/>
          </p:cNvSpPr>
          <p:nvPr/>
        </p:nvSpPr>
        <p:spPr>
          <a:xfrm xmlns:a="http://schemas.openxmlformats.org/drawingml/2006/main">
            <a:off x="666750" y="2905125"/>
            <a:ext cx="61912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9202E"/>
                </a:solidFill>
                <a:latin typeface="Arial"/>
                <a:ea typeface="Arial"/>
                <a:cs typeface="Arial"/>
              </a:defRPr>
            </a:pPr>
            <a:r>
              <a:rPr sz="2250" b="0">
                <a:solidFill>
                  <a:srgbClr val="19202E"/>
                </a:solidFill>
                <a:latin typeface="Arial"/>
                <a:ea typeface="Arial"/>
                <a:cs typeface="Arial"/>
              </a:rPr>
              <a:t>Personal Space для власних матеріалів.</a:t>
            </a:r>
          </a:p>
          <a:p xmlns:a="http://schemas.openxmlformats.org/drawingml/2006/main">
            <a:pPr>
              <a:defRPr sz="2250" b="0">
                <a:solidFill>
                  <a:srgbClr val="19202E"/>
                </a:solidFill>
                <a:latin typeface="Arial"/>
                <a:ea typeface="Arial"/>
                <a:cs typeface="Arial"/>
              </a:defRPr>
            </a:pPr>
            <a:r>
              <a:rPr sz="2250" b="0">
                <a:solidFill>
                  <a:srgbClr val="19202E"/>
                </a:solidFill>
                <a:latin typeface="Arial"/>
                <a:ea typeface="Arial"/>
                <a:cs typeface="Arial"/>
              </a:rPr>
              <a:t>Shared Space для спільної роботи.</a:t>
            </a:r>
          </a:p>
          <a:p xmlns:a="http://schemas.openxmlformats.org/drawingml/2006/main">
            <a:pPr>
              <a:defRPr sz="2250" b="0">
                <a:solidFill>
                  <a:srgbClr val="19202E"/>
                </a:solidFill>
                <a:latin typeface="Arial"/>
                <a:ea typeface="Arial"/>
                <a:cs typeface="Arial"/>
              </a:defRPr>
            </a:pPr>
            <a:r>
              <a:rPr sz="2250" b="0">
                <a:solidFill>
                  <a:srgbClr val="19202E"/>
                </a:solidFill>
                <a:latin typeface="Arial"/>
                <a:ea typeface="Arial"/>
                <a:cs typeface="Arial"/>
              </a:rPr>
              <a:t>Доступ до ресурсів за явними правами.</a:t>
            </a:r>
          </a:p>
        </p:txBody>
      </p:sp>
      <p:sp>
        <p:nvSpPr>
          <p:cNvPr id="6" name="">
            <a:extLst xmlns:a="http://schemas.openxmlformats.org/drawingml/2006/main">
              <a:ext uri="{FF2B5EF4-FFF2-40B4-BE49-F238E27FC236}">
                <a16:creationId xmlns:a16="http://schemas.microsoft.com/office/drawing/2014/main" id="{1465E736-9CA3-44BE-ADDD-F5236AEEAB34}"/>
              </a:ext>
            </a:extLst>
          </p:cNvPr>
          <p:cNvSpPr>
            <a:spLocks xmlns:a="http://schemas.openxmlformats.org/drawingml/2006/main" noGrp="1"/>
          </p:cNvSpPr>
          <p:nvPr/>
        </p:nvSpPr>
        <p:spPr>
          <a:xfrm xmlns:a="http://schemas.openxmlformats.org/drawingml/2006/main">
            <a:off x="666750" y="547687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E656E"/>
                </a:solidFill>
                <a:latin typeface="Arial"/>
                <a:ea typeface="Arial"/>
                <a:cs typeface="Arial"/>
              </a:defRPr>
            </a:pPr>
            <a:r>
              <a:rPr sz="1725" b="0">
                <a:solidFill>
                  <a:srgbClr val="5E656E"/>
                </a:solidFill>
                <a:latin typeface="Arial"/>
                <a:ea typeface="Arial"/>
                <a:cs typeface="Arial"/>
              </a:rPr>
              <a:t>Заплановано. Публічний реліз ще попереду.</a:t>
            </a:r>
          </a:p>
        </p:txBody>
      </p:sp>
    </p:spTree>
    <p:extLst>
      <p:ext uri="{BB962C8B-B14F-4D97-AF65-F5344CB8AC3E}">
        <p14:creationId xmlns:p14="http://schemas.microsoft.com/office/powerpoint/2010/main" val="1241647910"/>
      </p:ext>
    </p:extLst>
  </p:cSld>
</p:sld>
</file>

<file path=ppt/slides/slide3.xml><?xml version="1.0" encoding="utf-8"?>
<p:sld xmlns:p="http://schemas.openxmlformats.org/presentationml/2006/main">
  <p:cSld>
    <p:bg>
      <p:bgPr>
        <a:solidFill xmlns:a="http://schemas.openxmlformats.org/drawingml/2006/main">
          <a:srgbClr val="FDFC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B743D39-95C6-48B1-817B-6505CE0A51C2}"/>
              </a:ext>
            </a:extLst>
          </p:cNvPr>
          <p:cNvSpPr>
            <a:spLocks xmlns:a="http://schemas.openxmlformats.org/drawingml/2006/main" noGrp="1"/>
          </p:cNvSpPr>
          <p:nvPr/>
        </p:nvSpPr>
        <p:spPr>
          <a:xfrm xmlns:a="http://schemas.openxmlformats.org/drawingml/2006/main">
            <a:off x="666750" y="523875"/>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9202E"/>
                </a:solidFill>
                <a:latin typeface="Arial"/>
                <a:ea typeface="Arial"/>
                <a:cs typeface="Arial"/>
              </a:defRPr>
            </a:pPr>
            <a:r>
              <a:rPr sz="3600" b="1">
                <a:solidFill>
                  <a:srgbClr val="19202E"/>
                </a:solidFill>
                <a:latin typeface="Arial"/>
                <a:ea typeface="Arial"/>
                <a:cs typeface="Arial"/>
              </a:rPr>
              <a:t>Розмова, нотатка, задача</a:t>
            </a:r>
          </a:p>
        </p:txBody>
      </p:sp>
      <p:sp>
        <p:nvSpPr>
          <p:cNvPr id="2" name="">
            <a:extLst xmlns:a="http://schemas.openxmlformats.org/drawingml/2006/main">
              <a:ext uri="{FF2B5EF4-FFF2-40B4-BE49-F238E27FC236}">
                <a16:creationId xmlns:a16="http://schemas.microsoft.com/office/drawing/2014/main" id="{2B06FFB9-6F60-4528-90CB-7366A061670A}"/>
              </a:ext>
            </a:extLst>
          </p:cNvPr>
          <p:cNvSpPr>
            <a:spLocks xmlns:a="http://schemas.openxmlformats.org/drawingml/2006/main" noGrp="1"/>
          </p:cNvSpPr>
          <p:nvPr/>
        </p:nvSpPr>
        <p:spPr>
          <a:xfrm xmlns:a="http://schemas.openxmlformats.org/drawingml/2006/main">
            <a:off x="666750" y="62865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656E"/>
                </a:solidFill>
                <a:latin typeface="Arial"/>
                <a:ea typeface="Arial"/>
                <a:cs typeface="Arial"/>
              </a:defRPr>
            </a:pPr>
            <a:r>
              <a:rPr sz="1275" b="0">
                <a:solidFill>
                  <a:srgbClr val="5E656E"/>
                </a:solidFill>
                <a:latin typeface="Arial"/>
                <a:ea typeface="Arial"/>
                <a:cs typeface="Arial"/>
              </a:rPr>
              <a:t>VIDA   /   3 з 8</a:t>
            </a:r>
          </a:p>
        </p:txBody>
      </p:sp>
      <p:sp>
        <p:nvSpPr>
          <p:cNvPr id="3" name="">
            <a:extLst xmlns:a="http://schemas.openxmlformats.org/drawingml/2006/main">
              <a:ext uri="{FF2B5EF4-FFF2-40B4-BE49-F238E27FC236}">
                <a16:creationId xmlns:a16="http://schemas.microsoft.com/office/drawing/2014/main" id="{B6330F9B-874F-4465-A242-973A4A2AFBE0}"/>
              </a:ext>
            </a:extLst>
          </p:cNvPr>
          <p:cNvSpPr>
            <a:spLocks xmlns:a="http://schemas.openxmlformats.org/drawingml/2006/main" noGrp="1"/>
          </p:cNvSpPr>
          <p:nvPr/>
        </p:nvSpPr>
        <p:spPr>
          <a:xfrm xmlns:a="http://schemas.openxmlformats.org/drawingml/2006/main">
            <a:off x="666750" y="2000250"/>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A74E36"/>
                </a:solidFill>
                <a:latin typeface="Arial"/>
                <a:ea typeface="Arial"/>
                <a:cs typeface="Arial"/>
              </a:defRPr>
            </a:pPr>
            <a:r>
              <a:rPr sz="2475" b="1">
                <a:solidFill>
                  <a:srgbClr val="A74E36"/>
                </a:solidFill>
                <a:latin typeface="Arial"/>
                <a:ea typeface="Arial"/>
                <a:cs typeface="Arial"/>
              </a:rPr>
              <a:t>01  Розмова</a:t>
            </a:r>
          </a:p>
        </p:txBody>
      </p:sp>
      <p:sp>
        <p:nvSpPr>
          <p:cNvPr id="4" name="">
            <a:extLst xmlns:a="http://schemas.openxmlformats.org/drawingml/2006/main">
              <a:ext uri="{FF2B5EF4-FFF2-40B4-BE49-F238E27FC236}">
                <a16:creationId xmlns:a16="http://schemas.microsoft.com/office/drawing/2014/main" id="{E351C1D0-2C2B-4A38-8688-2651C9126A87}"/>
              </a:ext>
            </a:extLst>
          </p:cNvPr>
          <p:cNvSpPr>
            <a:spLocks xmlns:a="http://schemas.openxmlformats.org/drawingml/2006/main" noGrp="1"/>
          </p:cNvSpPr>
          <p:nvPr/>
        </p:nvSpPr>
        <p:spPr>
          <a:xfrm xmlns:a="http://schemas.openxmlformats.org/drawingml/2006/main">
            <a:off x="666750" y="2809875"/>
            <a:ext cx="314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9202E"/>
                </a:solidFill>
                <a:latin typeface="Arial"/>
                <a:ea typeface="Arial"/>
                <a:cs typeface="Arial"/>
              </a:defRPr>
            </a:pPr>
            <a:r>
              <a:rPr sz="2100" b="0">
                <a:solidFill>
                  <a:srgbClr val="19202E"/>
                </a:solidFill>
                <a:latin typeface="Arial"/>
                <a:ea typeface="Arial"/>
                <a:cs typeface="Arial"/>
              </a:rPr>
              <a:t>Команда обговорює</a:t>
            </a:r>
          </a:p>
          <a:p xmlns:a="http://schemas.openxmlformats.org/drawingml/2006/main">
            <a:pPr>
              <a:defRPr sz="2100" b="0">
                <a:solidFill>
                  <a:srgbClr val="19202E"/>
                </a:solidFill>
                <a:latin typeface="Arial"/>
                <a:ea typeface="Arial"/>
                <a:cs typeface="Arial"/>
              </a:defRPr>
            </a:pPr>
            <a:r>
              <a:rPr sz="2100" b="0">
                <a:solidFill>
                  <a:srgbClr val="19202E"/>
                </a:solidFill>
                <a:latin typeface="Arial"/>
                <a:ea typeface="Arial"/>
                <a:cs typeface="Arial"/>
              </a:rPr>
              <a:t>наступну зустріч.</a:t>
            </a:r>
          </a:p>
        </p:txBody>
      </p:sp>
      <p:sp>
        <p:nvSpPr>
          <p:cNvPr id="5" name="">
            <a:extLst xmlns:a="http://schemas.openxmlformats.org/drawingml/2006/main">
              <a:ext uri="{FF2B5EF4-FFF2-40B4-BE49-F238E27FC236}">
                <a16:creationId xmlns:a16="http://schemas.microsoft.com/office/drawing/2014/main" id="{2D8F5D96-188D-4AE3-9252-D691DDE84325}"/>
              </a:ext>
            </a:extLst>
          </p:cNvPr>
          <p:cNvSpPr>
            <a:spLocks xmlns:a="http://schemas.openxmlformats.org/drawingml/2006/main" noGrp="1"/>
          </p:cNvSpPr>
          <p:nvPr/>
        </p:nvSpPr>
        <p:spPr>
          <a:xfrm xmlns:a="http://schemas.openxmlformats.org/drawingml/2006/main">
            <a:off x="4429125" y="2000250"/>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A74E36"/>
                </a:solidFill>
                <a:latin typeface="Arial"/>
                <a:ea typeface="Arial"/>
                <a:cs typeface="Arial"/>
              </a:defRPr>
            </a:pPr>
            <a:r>
              <a:rPr sz="2475" b="1">
                <a:solidFill>
                  <a:srgbClr val="A74E36"/>
                </a:solidFill>
                <a:latin typeface="Arial"/>
                <a:ea typeface="Arial"/>
                <a:cs typeface="Arial"/>
              </a:rPr>
              <a:t>02  Нотатка</a:t>
            </a:r>
          </a:p>
        </p:txBody>
      </p:sp>
      <p:sp>
        <p:nvSpPr>
          <p:cNvPr id="6" name="">
            <a:extLst xmlns:a="http://schemas.openxmlformats.org/drawingml/2006/main">
              <a:ext uri="{FF2B5EF4-FFF2-40B4-BE49-F238E27FC236}">
                <a16:creationId xmlns:a16="http://schemas.microsoft.com/office/drawing/2014/main" id="{9A922F9A-3DA0-4DAD-842A-0AF66B4ADC9E}"/>
              </a:ext>
            </a:extLst>
          </p:cNvPr>
          <p:cNvSpPr>
            <a:spLocks xmlns:a="http://schemas.openxmlformats.org/drawingml/2006/main" noGrp="1"/>
          </p:cNvSpPr>
          <p:nvPr/>
        </p:nvSpPr>
        <p:spPr>
          <a:xfrm xmlns:a="http://schemas.openxmlformats.org/drawingml/2006/main">
            <a:off x="4429125" y="2809875"/>
            <a:ext cx="314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9202E"/>
                </a:solidFill>
                <a:latin typeface="Arial"/>
                <a:ea typeface="Arial"/>
                <a:cs typeface="Arial"/>
              </a:defRPr>
            </a:pPr>
            <a:r>
              <a:rPr sz="2100" b="0">
                <a:solidFill>
                  <a:srgbClr val="19202E"/>
                </a:solidFill>
                <a:latin typeface="Arial"/>
                <a:ea typeface="Arial"/>
                <a:cs typeface="Arial"/>
              </a:rPr>
              <a:t>Рішення зберігає</a:t>
            </a:r>
          </a:p>
          <a:p xmlns:a="http://schemas.openxmlformats.org/drawingml/2006/main">
            <a:pPr>
              <a:defRPr sz="2100" b="0">
                <a:solidFill>
                  <a:srgbClr val="19202E"/>
                </a:solidFill>
                <a:latin typeface="Arial"/>
                <a:ea typeface="Arial"/>
                <a:cs typeface="Arial"/>
              </a:defRPr>
            </a:pPr>
            <a:r>
              <a:rPr sz="2100" b="0">
                <a:solidFill>
                  <a:srgbClr val="19202E"/>
                </a:solidFill>
                <a:latin typeface="Arial"/>
                <a:ea typeface="Arial"/>
                <a:cs typeface="Arial"/>
              </a:rPr>
              <a:t>зв’язок із джерелом.</a:t>
            </a:r>
          </a:p>
        </p:txBody>
      </p:sp>
      <p:sp>
        <p:nvSpPr>
          <p:cNvPr id="7" name="">
            <a:extLst xmlns:a="http://schemas.openxmlformats.org/drawingml/2006/main">
              <a:ext uri="{FF2B5EF4-FFF2-40B4-BE49-F238E27FC236}">
                <a16:creationId xmlns:a16="http://schemas.microsoft.com/office/drawing/2014/main" id="{D38E702C-8914-4384-B636-4A6F0EFBD095}"/>
              </a:ext>
            </a:extLst>
          </p:cNvPr>
          <p:cNvSpPr>
            <a:spLocks xmlns:a="http://schemas.openxmlformats.org/drawingml/2006/main" noGrp="1"/>
          </p:cNvSpPr>
          <p:nvPr/>
        </p:nvSpPr>
        <p:spPr>
          <a:xfrm xmlns:a="http://schemas.openxmlformats.org/drawingml/2006/main">
            <a:off x="8191500" y="20002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A74E36"/>
                </a:solidFill>
                <a:latin typeface="Arial"/>
                <a:ea typeface="Arial"/>
                <a:cs typeface="Arial"/>
              </a:defRPr>
            </a:pPr>
            <a:r>
              <a:rPr sz="2475" b="1">
                <a:solidFill>
                  <a:srgbClr val="A74E36"/>
                </a:solidFill>
                <a:latin typeface="Arial"/>
                <a:ea typeface="Arial"/>
                <a:cs typeface="Arial"/>
              </a:rPr>
              <a:t>03  Задача</a:t>
            </a:r>
          </a:p>
        </p:txBody>
      </p:sp>
      <p:sp>
        <p:nvSpPr>
          <p:cNvPr id="8" name="">
            <a:extLst xmlns:a="http://schemas.openxmlformats.org/drawingml/2006/main">
              <a:ext uri="{FF2B5EF4-FFF2-40B4-BE49-F238E27FC236}">
                <a16:creationId xmlns:a16="http://schemas.microsoft.com/office/drawing/2014/main" id="{41AAE5F3-A35E-46A2-98F0-5D0119708366}"/>
              </a:ext>
            </a:extLst>
          </p:cNvPr>
          <p:cNvSpPr>
            <a:spLocks xmlns:a="http://schemas.openxmlformats.org/drawingml/2006/main" noGrp="1"/>
          </p:cNvSpPr>
          <p:nvPr/>
        </p:nvSpPr>
        <p:spPr>
          <a:xfrm xmlns:a="http://schemas.openxmlformats.org/drawingml/2006/main">
            <a:off x="8191500" y="2809875"/>
            <a:ext cx="314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9202E"/>
                </a:solidFill>
                <a:latin typeface="Arial"/>
                <a:ea typeface="Arial"/>
                <a:cs typeface="Arial"/>
              </a:defRPr>
            </a:pPr>
            <a:r>
              <a:rPr sz="2100" b="0">
                <a:solidFill>
                  <a:srgbClr val="19202E"/>
                </a:solidFill>
                <a:latin typeface="Arial"/>
                <a:ea typeface="Arial"/>
                <a:cs typeface="Arial"/>
              </a:rPr>
              <a:t>Виконавець бачить</a:t>
            </a:r>
          </a:p>
          <a:p xmlns:a="http://schemas.openxmlformats.org/drawingml/2006/main">
            <a:pPr>
              <a:defRPr sz="2100" b="0">
                <a:solidFill>
                  <a:srgbClr val="19202E"/>
                </a:solidFill>
                <a:latin typeface="Arial"/>
                <a:ea typeface="Arial"/>
                <a:cs typeface="Arial"/>
              </a:defRPr>
            </a:pPr>
            <a:r>
              <a:rPr sz="2100" b="0">
                <a:solidFill>
                  <a:srgbClr val="19202E"/>
                </a:solidFill>
                <a:latin typeface="Arial"/>
                <a:ea typeface="Arial"/>
                <a:cs typeface="Arial"/>
              </a:rPr>
              <a:t>контекст роботи.</a:t>
            </a:r>
          </a:p>
        </p:txBody>
      </p:sp>
      <p:sp>
        <p:nvSpPr>
          <p:cNvPr id="9" name="">
            <a:extLst xmlns:a="http://schemas.openxmlformats.org/drawingml/2006/main">
              <a:ext uri="{FF2B5EF4-FFF2-40B4-BE49-F238E27FC236}">
                <a16:creationId xmlns:a16="http://schemas.microsoft.com/office/drawing/2014/main" id="{61F9674F-16F6-41FC-B4A1-1BE9722A473C}"/>
              </a:ext>
            </a:extLst>
          </p:cNvPr>
          <p:cNvSpPr>
            <a:spLocks xmlns:a="http://schemas.openxmlformats.org/drawingml/2006/main" noGrp="1"/>
          </p:cNvSpPr>
          <p:nvPr/>
        </p:nvSpPr>
        <p:spPr>
          <a:xfrm xmlns:a="http://schemas.openxmlformats.org/drawingml/2006/main">
            <a:off x="666750" y="46672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A74E36"/>
                </a:solidFill>
                <a:latin typeface="Arial"/>
                <a:ea typeface="Arial"/>
                <a:cs typeface="Arial"/>
              </a:defRPr>
            </a:pPr>
            <a:r>
              <a:rPr sz="2325" b="1">
                <a:solidFill>
                  <a:srgbClr val="A74E36"/>
                </a:solidFill>
                <a:latin typeface="Arial"/>
                <a:ea typeface="Arial"/>
                <a:cs typeface="Arial"/>
              </a:rPr>
              <a:t>Прототип: інтерактивний концепт на сайті</a:t>
            </a:r>
          </a:p>
        </p:txBody>
      </p:sp>
      <p:sp>
        <p:nvSpPr>
          <p:cNvPr id="10" name="">
            <a:extLst xmlns:a="http://schemas.openxmlformats.org/drawingml/2006/main">
              <a:ext uri="{FF2B5EF4-FFF2-40B4-BE49-F238E27FC236}">
                <a16:creationId xmlns:a16="http://schemas.microsoft.com/office/drawing/2014/main" id="{34DB4BAF-7F7C-42DC-B106-5290C8767D1B}"/>
              </a:ext>
            </a:extLst>
          </p:cNvPr>
          <p:cNvSpPr>
            <a:spLocks xmlns:a="http://schemas.openxmlformats.org/drawingml/2006/main" noGrp="1"/>
          </p:cNvSpPr>
          <p:nvPr/>
        </p:nvSpPr>
        <p:spPr>
          <a:xfrm xmlns:a="http://schemas.openxmlformats.org/drawingml/2006/main">
            <a:off x="666750" y="53816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E656E"/>
                </a:solidFill>
                <a:latin typeface="Arial"/>
                <a:ea typeface="Arial"/>
                <a:cs typeface="Arial"/>
              </a:defRPr>
            </a:pPr>
            <a:r>
              <a:rPr sz="1725" b="0">
                <a:solidFill>
                  <a:srgbClr val="5E656E"/>
                </a:solidFill>
                <a:latin typeface="Arial"/>
                <a:ea typeface="Arial"/>
                <a:cs typeface="Arial"/>
              </a:rPr>
              <a:t>Три кроки з підказками та перезапуском. Дані існують лише на сторінці.</a:t>
            </a:r>
          </a:p>
        </p:txBody>
      </p:sp>
    </p:spTree>
    <p:extLst>
      <p:ext uri="{BB962C8B-B14F-4D97-AF65-F5344CB8AC3E}">
        <p14:creationId xmlns:p14="http://schemas.microsoft.com/office/powerpoint/2010/main" val="1053168410"/>
      </p:ext>
    </p:extLst>
  </p:cSld>
</p:sld>
</file>

<file path=ppt/slides/slide4.xml><?xml version="1.0" encoding="utf-8"?>
<p:sld xmlns:p="http://schemas.openxmlformats.org/presentationml/2006/main">
  <p:cSld>
    <p:bg>
      <p:bgPr>
        <a:solidFill xmlns:a="http://schemas.openxmlformats.org/drawingml/2006/main">
          <a:srgbClr val="2D323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F91E3B1-FA63-46A7-9C98-B8E1B266BA3D}"/>
              </a:ext>
            </a:extLst>
          </p:cNvPr>
          <p:cNvSpPr>
            <a:spLocks xmlns:a="http://schemas.openxmlformats.org/drawingml/2006/main" noGrp="1"/>
          </p:cNvSpPr>
          <p:nvPr/>
        </p:nvSpPr>
        <p:spPr>
          <a:xfrm xmlns:a="http://schemas.openxmlformats.org/drawingml/2006/main">
            <a:off x="666750" y="523875"/>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7F1"/>
                </a:solidFill>
                <a:latin typeface="Arial"/>
                <a:ea typeface="Arial"/>
                <a:cs typeface="Arial"/>
              </a:defRPr>
            </a:pPr>
            <a:r>
              <a:rPr sz="3600" b="1">
                <a:solidFill>
                  <a:srgbClr val="FFF7F1"/>
                </a:solidFill>
                <a:latin typeface="Arial"/>
                <a:ea typeface="Arial"/>
                <a:cs typeface="Arial"/>
              </a:rPr>
              <a:t>Спільне ядро та транспорт</a:t>
            </a:r>
          </a:p>
        </p:txBody>
      </p:sp>
      <p:sp>
        <p:nvSpPr>
          <p:cNvPr id="2" name="">
            <a:extLst xmlns:a="http://schemas.openxmlformats.org/drawingml/2006/main">
              <a:ext uri="{FF2B5EF4-FFF2-40B4-BE49-F238E27FC236}">
                <a16:creationId xmlns:a16="http://schemas.microsoft.com/office/drawing/2014/main" id="{DEF5FDC6-AA35-486B-A4DA-03ED281B7872}"/>
              </a:ext>
            </a:extLst>
          </p:cNvPr>
          <p:cNvSpPr>
            <a:spLocks xmlns:a="http://schemas.openxmlformats.org/drawingml/2006/main" noGrp="1"/>
          </p:cNvSpPr>
          <p:nvPr/>
        </p:nvSpPr>
        <p:spPr>
          <a:xfrm xmlns:a="http://schemas.openxmlformats.org/drawingml/2006/main">
            <a:off x="666750" y="62865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DDD4CD"/>
                </a:solidFill>
                <a:latin typeface="Arial"/>
                <a:ea typeface="Arial"/>
                <a:cs typeface="Arial"/>
              </a:defRPr>
            </a:pPr>
            <a:r>
              <a:rPr sz="1275" b="0">
                <a:solidFill>
                  <a:srgbClr val="DDD4CD"/>
                </a:solidFill>
                <a:latin typeface="Arial"/>
                <a:ea typeface="Arial"/>
                <a:cs typeface="Arial"/>
              </a:rPr>
              <a:t>VIDA   /   4 з 8</a:t>
            </a:r>
          </a:p>
        </p:txBody>
      </p:sp>
      <p:sp>
        <p:nvSpPr>
          <p:cNvPr id="3" name="">
            <a:extLst xmlns:a="http://schemas.openxmlformats.org/drawingml/2006/main">
              <a:ext uri="{FF2B5EF4-FFF2-40B4-BE49-F238E27FC236}">
                <a16:creationId xmlns:a16="http://schemas.microsoft.com/office/drawing/2014/main" id="{AC1D24A8-A6A3-4C59-BFAC-D012B9E90D25}"/>
              </a:ext>
            </a:extLst>
          </p:cNvPr>
          <p:cNvSpPr>
            <a:spLocks xmlns:a="http://schemas.openxmlformats.org/drawingml/2006/main" noGrp="1"/>
          </p:cNvSpPr>
          <p:nvPr/>
        </p:nvSpPr>
        <p:spPr>
          <a:xfrm xmlns:a="http://schemas.openxmlformats.org/drawingml/2006/main">
            <a:off x="666750" y="2047875"/>
            <a:ext cx="276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DCA88F"/>
                </a:solidFill>
                <a:latin typeface="Arial"/>
                <a:ea typeface="Arial"/>
                <a:cs typeface="Arial"/>
              </a:defRPr>
            </a:pPr>
            <a:r>
              <a:rPr sz="3000" b="1">
                <a:solidFill>
                  <a:srgbClr val="DCA88F"/>
                </a:solidFill>
                <a:latin typeface="Arial"/>
                <a:ea typeface="Arial"/>
                <a:cs typeface="Arial"/>
              </a:rPr>
              <a:t>Flutter</a:t>
            </a:r>
          </a:p>
        </p:txBody>
      </p:sp>
      <p:sp>
        <p:nvSpPr>
          <p:cNvPr id="4" name="">
            <a:extLst xmlns:a="http://schemas.openxmlformats.org/drawingml/2006/main">
              <a:ext uri="{FF2B5EF4-FFF2-40B4-BE49-F238E27FC236}">
                <a16:creationId xmlns:a16="http://schemas.microsoft.com/office/drawing/2014/main" id="{3F386D79-67D8-42FA-8FFD-B58541910805}"/>
              </a:ext>
            </a:extLst>
          </p:cNvPr>
          <p:cNvSpPr>
            <a:spLocks xmlns:a="http://schemas.openxmlformats.org/drawingml/2006/main" noGrp="1"/>
          </p:cNvSpPr>
          <p:nvPr/>
        </p:nvSpPr>
        <p:spPr>
          <a:xfrm xmlns:a="http://schemas.openxmlformats.org/drawingml/2006/main">
            <a:off x="666750" y="2762250"/>
            <a:ext cx="285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5F1EE"/>
                </a:solidFill>
                <a:latin typeface="Arial"/>
                <a:ea typeface="Arial"/>
                <a:cs typeface="Arial"/>
              </a:defRPr>
            </a:pPr>
            <a:r>
              <a:rPr sz="2025" b="0">
                <a:solidFill>
                  <a:srgbClr val="F5F1EE"/>
                </a:solidFill>
                <a:latin typeface="Arial"/>
                <a:ea typeface="Arial"/>
                <a:cs typeface="Arial"/>
              </a:rPr>
              <a:t>Інтерфейси</a:t>
            </a:r>
          </a:p>
          <a:p xmlns:a="http://schemas.openxmlformats.org/drawingml/2006/main">
            <a:pPr>
              <a:defRPr sz="2025" b="0">
                <a:solidFill>
                  <a:srgbClr val="F5F1EE"/>
                </a:solidFill>
                <a:latin typeface="Arial"/>
                <a:ea typeface="Arial"/>
                <a:cs typeface="Arial"/>
              </a:defRPr>
            </a:pPr>
            <a:r>
              <a:rPr sz="2025" b="0">
                <a:solidFill>
                  <a:srgbClr val="F5F1EE"/>
                </a:solidFill>
                <a:latin typeface="Arial"/>
                <a:ea typeface="Arial"/>
                <a:cs typeface="Arial"/>
              </a:rPr>
              <a:t>та поведінка екранів</a:t>
            </a:r>
          </a:p>
        </p:txBody>
      </p:sp>
      <p:sp>
        <p:nvSpPr>
          <p:cNvPr id="5" name="">
            <a:extLst xmlns:a="http://schemas.openxmlformats.org/drawingml/2006/main">
              <a:ext uri="{FF2B5EF4-FFF2-40B4-BE49-F238E27FC236}">
                <a16:creationId xmlns:a16="http://schemas.microsoft.com/office/drawing/2014/main" id="{59A6B00F-04E1-4752-B2F1-02DFAD418F11}"/>
              </a:ext>
            </a:extLst>
          </p:cNvPr>
          <p:cNvSpPr>
            <a:spLocks xmlns:a="http://schemas.openxmlformats.org/drawingml/2006/main" noGrp="1"/>
          </p:cNvSpPr>
          <p:nvPr/>
        </p:nvSpPr>
        <p:spPr>
          <a:xfrm xmlns:a="http://schemas.openxmlformats.org/drawingml/2006/main">
            <a:off x="4524375" y="204787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DCA88F"/>
                </a:solidFill>
                <a:latin typeface="Arial"/>
                <a:ea typeface="Arial"/>
                <a:cs typeface="Arial"/>
              </a:defRPr>
            </a:pPr>
            <a:r>
              <a:rPr sz="3000" b="1">
                <a:solidFill>
                  <a:srgbClr val="DCA88F"/>
                </a:solidFill>
                <a:latin typeface="Arial"/>
                <a:ea typeface="Arial"/>
                <a:cs typeface="Arial"/>
              </a:rPr>
              <a:t>Rust core</a:t>
            </a:r>
          </a:p>
        </p:txBody>
      </p:sp>
      <p:sp>
        <p:nvSpPr>
          <p:cNvPr id="6" name="">
            <a:extLst xmlns:a="http://schemas.openxmlformats.org/drawingml/2006/main">
              <a:ext uri="{FF2B5EF4-FFF2-40B4-BE49-F238E27FC236}">
                <a16:creationId xmlns:a16="http://schemas.microsoft.com/office/drawing/2014/main" id="{239F1A22-6D56-4FB0-B3F2-A1765341354B}"/>
              </a:ext>
            </a:extLst>
          </p:cNvPr>
          <p:cNvSpPr>
            <a:spLocks xmlns:a="http://schemas.openxmlformats.org/drawingml/2006/main" noGrp="1"/>
          </p:cNvSpPr>
          <p:nvPr/>
        </p:nvSpPr>
        <p:spPr>
          <a:xfrm xmlns:a="http://schemas.openxmlformats.org/drawingml/2006/main">
            <a:off x="4524375" y="2762250"/>
            <a:ext cx="304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5F1EE"/>
                </a:solidFill>
                <a:latin typeface="Arial"/>
                <a:ea typeface="Arial"/>
                <a:cs typeface="Arial"/>
              </a:defRPr>
            </a:pPr>
            <a:r>
              <a:rPr sz="2025" b="0">
                <a:solidFill>
                  <a:srgbClr val="F5F1EE"/>
                </a:solidFill>
                <a:latin typeface="Arial"/>
                <a:ea typeface="Arial"/>
                <a:cs typeface="Arial"/>
              </a:rPr>
              <a:t>Ресурси, команди,</a:t>
            </a:r>
          </a:p>
          <a:p xmlns:a="http://schemas.openxmlformats.org/drawingml/2006/main">
            <a:pPr>
              <a:defRPr sz="2025" b="0">
                <a:solidFill>
                  <a:srgbClr val="F5F1EE"/>
                </a:solidFill>
                <a:latin typeface="Arial"/>
                <a:ea typeface="Arial"/>
                <a:cs typeface="Arial"/>
              </a:defRPr>
            </a:pPr>
            <a:r>
              <a:rPr sz="2025" b="0">
                <a:solidFill>
                  <a:srgbClr val="F5F1EE"/>
                </a:solidFill>
                <a:latin typeface="Arial"/>
                <a:ea typeface="Arial"/>
                <a:cs typeface="Arial"/>
              </a:rPr>
              <a:t>права та перевірки</a:t>
            </a:r>
          </a:p>
        </p:txBody>
      </p:sp>
      <p:sp>
        <p:nvSpPr>
          <p:cNvPr id="7" name="">
            <a:extLst xmlns:a="http://schemas.openxmlformats.org/drawingml/2006/main">
              <a:ext uri="{FF2B5EF4-FFF2-40B4-BE49-F238E27FC236}">
                <a16:creationId xmlns:a16="http://schemas.microsoft.com/office/drawing/2014/main" id="{8254BE2A-846C-4479-B415-44B053269970}"/>
              </a:ext>
            </a:extLst>
          </p:cNvPr>
          <p:cNvSpPr>
            <a:spLocks xmlns:a="http://schemas.openxmlformats.org/drawingml/2006/main" noGrp="1"/>
          </p:cNvSpPr>
          <p:nvPr/>
        </p:nvSpPr>
        <p:spPr>
          <a:xfrm xmlns:a="http://schemas.openxmlformats.org/drawingml/2006/main">
            <a:off x="8477250" y="204787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DCA88F"/>
                </a:solidFill>
                <a:latin typeface="Arial"/>
                <a:ea typeface="Arial"/>
                <a:cs typeface="Arial"/>
              </a:defRPr>
            </a:pPr>
            <a:r>
              <a:rPr sz="3000" b="1">
                <a:solidFill>
                  <a:srgbClr val="DCA88F"/>
                </a:solidFill>
                <a:latin typeface="Arial"/>
                <a:ea typeface="Arial"/>
                <a:cs typeface="Arial"/>
              </a:rPr>
              <a:t>Iroh</a:t>
            </a:r>
          </a:p>
        </p:txBody>
      </p:sp>
      <p:sp>
        <p:nvSpPr>
          <p:cNvPr id="8" name="">
            <a:extLst xmlns:a="http://schemas.openxmlformats.org/drawingml/2006/main">
              <a:ext uri="{FF2B5EF4-FFF2-40B4-BE49-F238E27FC236}">
                <a16:creationId xmlns:a16="http://schemas.microsoft.com/office/drawing/2014/main" id="{52F09D89-F6F4-4112-8CDF-DBF40BDC4460}"/>
              </a:ext>
            </a:extLst>
          </p:cNvPr>
          <p:cNvSpPr>
            <a:spLocks xmlns:a="http://schemas.openxmlformats.org/drawingml/2006/main" noGrp="1"/>
          </p:cNvSpPr>
          <p:nvPr/>
        </p:nvSpPr>
        <p:spPr>
          <a:xfrm xmlns:a="http://schemas.openxmlformats.org/drawingml/2006/main">
            <a:off x="8477250" y="2762250"/>
            <a:ext cx="295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5F1EE"/>
                </a:solidFill>
                <a:latin typeface="Arial"/>
                <a:ea typeface="Arial"/>
                <a:cs typeface="Arial"/>
              </a:defRPr>
            </a:pPr>
            <a:r>
              <a:rPr sz="2025" b="0">
                <a:solidFill>
                  <a:srgbClr val="F5F1EE"/>
                </a:solidFill>
                <a:latin typeface="Arial"/>
                <a:ea typeface="Arial"/>
                <a:cs typeface="Arial"/>
              </a:rPr>
              <a:t>Захищений канал</a:t>
            </a:r>
          </a:p>
          <a:p xmlns:a="http://schemas.openxmlformats.org/drawingml/2006/main">
            <a:pPr>
              <a:defRPr sz="2025" b="0">
                <a:solidFill>
                  <a:srgbClr val="F5F1EE"/>
                </a:solidFill>
                <a:latin typeface="Arial"/>
                <a:ea typeface="Arial"/>
                <a:cs typeface="Arial"/>
              </a:defRPr>
            </a:pPr>
            <a:r>
              <a:rPr sz="2025" b="0">
                <a:solidFill>
                  <a:srgbClr val="F5F1EE"/>
                </a:solidFill>
                <a:latin typeface="Arial"/>
                <a:ea typeface="Arial"/>
                <a:cs typeface="Arial"/>
              </a:rPr>
              <a:t>між пристроями</a:t>
            </a:r>
          </a:p>
        </p:txBody>
      </p:sp>
      <p:sp>
        <p:nvSpPr>
          <p:cNvPr id="9" name="">
            <a:extLst xmlns:a="http://schemas.openxmlformats.org/drawingml/2006/main">
              <a:ext uri="{FF2B5EF4-FFF2-40B4-BE49-F238E27FC236}">
                <a16:creationId xmlns:a16="http://schemas.microsoft.com/office/drawing/2014/main" id="{8185B9B4-0A32-4F74-8EC6-6040EE65A84D}"/>
              </a:ext>
            </a:extLst>
          </p:cNvPr>
          <p:cNvSpPr>
            <a:spLocks xmlns:a="http://schemas.openxmlformats.org/drawingml/2006/main" noGrp="1"/>
          </p:cNvSpPr>
          <p:nvPr/>
        </p:nvSpPr>
        <p:spPr>
          <a:xfrm xmlns:a="http://schemas.openxmlformats.org/drawingml/2006/main">
            <a:off x="666750" y="46672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FF7F1"/>
                </a:solidFill>
                <a:latin typeface="Arial"/>
                <a:ea typeface="Arial"/>
                <a:cs typeface="Arial"/>
              </a:defRPr>
            </a:pPr>
            <a:r>
              <a:rPr sz="2175" b="0">
                <a:solidFill>
                  <a:srgbClr val="FFF7F1"/>
                </a:solidFill>
                <a:latin typeface="Arial"/>
                <a:ea typeface="Arial"/>
                <a:cs typeface="Arial"/>
              </a:rPr>
              <a:t>Заплановано: локальна операція, перевірка, обмін, підтвердження</a:t>
            </a:r>
          </a:p>
        </p:txBody>
      </p:sp>
      <p:sp>
        <p:nvSpPr>
          <p:cNvPr id="10" name="">
            <a:extLst xmlns:a="http://schemas.openxmlformats.org/drawingml/2006/main">
              <a:ext uri="{FF2B5EF4-FFF2-40B4-BE49-F238E27FC236}">
                <a16:creationId xmlns:a16="http://schemas.microsoft.com/office/drawing/2014/main" id="{FBCBE1E6-B317-4697-AC81-1517F9FD0221}"/>
              </a:ext>
            </a:extLst>
          </p:cNvPr>
          <p:cNvSpPr>
            <a:spLocks xmlns:a="http://schemas.openxmlformats.org/drawingml/2006/main" noGrp="1"/>
          </p:cNvSpPr>
          <p:nvPr/>
        </p:nvSpPr>
        <p:spPr>
          <a:xfrm xmlns:a="http://schemas.openxmlformats.org/drawingml/2006/main">
            <a:off x="666750" y="561975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4CFCA"/>
                </a:solidFill>
                <a:latin typeface="Arial"/>
                <a:ea typeface="Arial"/>
                <a:cs typeface="Arial"/>
              </a:defRPr>
            </a:pPr>
            <a:r>
              <a:rPr sz="1725" b="0">
                <a:solidFill>
                  <a:srgbClr val="D4CFCA"/>
                </a:solidFill>
                <a:latin typeface="Arial"/>
                <a:ea typeface="Arial"/>
                <a:cs typeface="Arial"/>
              </a:rPr>
              <a:t>Доставка та доменне прийняття мають окремі докази.</a:t>
            </a:r>
          </a:p>
        </p:txBody>
      </p:sp>
    </p:spTree>
    <p:extLst>
      <p:ext uri="{BB962C8B-B14F-4D97-AF65-F5344CB8AC3E}">
        <p14:creationId xmlns:p14="http://schemas.microsoft.com/office/powerpoint/2010/main" val="1322337651"/>
      </p:ext>
    </p:extLst>
  </p:cSld>
</p:sld>
</file>

<file path=ppt/slides/slide5.xml><?xml version="1.0" encoding="utf-8"?>
<p:sld xmlns:p="http://schemas.openxmlformats.org/presentationml/2006/main">
  <p:cSld>
    <p:bg>
      <p:bgPr>
        <a:solidFill xmlns:a="http://schemas.openxmlformats.org/drawingml/2006/main">
          <a:srgbClr val="FDFC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87B92D2-073B-4E8B-88BC-D8C830DA6EC3}"/>
              </a:ext>
            </a:extLst>
          </p:cNvPr>
          <p:cNvSpPr>
            <a:spLocks xmlns:a="http://schemas.openxmlformats.org/drawingml/2006/main" noGrp="1"/>
          </p:cNvSpPr>
          <p:nvPr/>
        </p:nvSpPr>
        <p:spPr>
          <a:xfrm xmlns:a="http://schemas.openxmlformats.org/drawingml/2006/main">
            <a:off x="666750" y="523875"/>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9202E"/>
                </a:solidFill>
                <a:latin typeface="Arial"/>
                <a:ea typeface="Arial"/>
                <a:cs typeface="Arial"/>
              </a:defRPr>
            </a:pPr>
            <a:r>
              <a:rPr sz="3600" b="1">
                <a:solidFill>
                  <a:srgbClr val="19202E"/>
                </a:solidFill>
                <a:latin typeface="Arial"/>
                <a:ea typeface="Arial"/>
                <a:cs typeface="Arial"/>
              </a:rPr>
              <a:t>Застосунки на спільній основі</a:t>
            </a:r>
          </a:p>
        </p:txBody>
      </p:sp>
      <p:sp>
        <p:nvSpPr>
          <p:cNvPr id="2" name="">
            <a:extLst xmlns:a="http://schemas.openxmlformats.org/drawingml/2006/main">
              <a:ext uri="{FF2B5EF4-FFF2-40B4-BE49-F238E27FC236}">
                <a16:creationId xmlns:a16="http://schemas.microsoft.com/office/drawing/2014/main" id="{7825AD12-2204-4388-8C2D-734A7FB2D42D}"/>
              </a:ext>
            </a:extLst>
          </p:cNvPr>
          <p:cNvSpPr>
            <a:spLocks xmlns:a="http://schemas.openxmlformats.org/drawingml/2006/main" noGrp="1"/>
          </p:cNvSpPr>
          <p:nvPr/>
        </p:nvSpPr>
        <p:spPr>
          <a:xfrm xmlns:a="http://schemas.openxmlformats.org/drawingml/2006/main">
            <a:off x="666750" y="62865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656E"/>
                </a:solidFill>
                <a:latin typeface="Arial"/>
                <a:ea typeface="Arial"/>
                <a:cs typeface="Arial"/>
              </a:defRPr>
            </a:pPr>
            <a:r>
              <a:rPr sz="1275" b="0">
                <a:solidFill>
                  <a:srgbClr val="5E656E"/>
                </a:solidFill>
                <a:latin typeface="Arial"/>
                <a:ea typeface="Arial"/>
                <a:cs typeface="Arial"/>
              </a:rPr>
              <a:t>VIDA   /   5 з 8</a:t>
            </a:r>
          </a:p>
        </p:txBody>
      </p:sp>
      <p:sp>
        <p:nvSpPr>
          <p:cNvPr id="3" name="">
            <a:extLst xmlns:a="http://schemas.openxmlformats.org/drawingml/2006/main">
              <a:ext uri="{FF2B5EF4-FFF2-40B4-BE49-F238E27FC236}">
                <a16:creationId xmlns:a16="http://schemas.microsoft.com/office/drawing/2014/main" id="{1A7756C3-6681-4B25-AE18-00BA8A80D9DF}"/>
              </a:ext>
            </a:extLst>
          </p:cNvPr>
          <p:cNvSpPr>
            <a:spLocks xmlns:a="http://schemas.openxmlformats.org/drawingml/2006/main" noGrp="1"/>
          </p:cNvSpPr>
          <p:nvPr/>
        </p:nvSpPr>
        <p:spPr>
          <a:xfrm xmlns:a="http://schemas.openxmlformats.org/drawingml/2006/main">
            <a:off x="666750" y="1952625"/>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A74E36"/>
                </a:solidFill>
                <a:latin typeface="Arial"/>
                <a:ea typeface="Arial"/>
                <a:cs typeface="Arial"/>
              </a:defRPr>
            </a:pPr>
            <a:r>
              <a:rPr sz="2550" b="1">
                <a:solidFill>
                  <a:srgbClr val="A74E36"/>
                </a:solidFill>
                <a:latin typeface="Arial"/>
                <a:ea typeface="Arial"/>
                <a:cs typeface="Arial"/>
              </a:rPr>
              <a:t>Стандартний набір</a:t>
            </a:r>
          </a:p>
        </p:txBody>
      </p:sp>
      <p:sp>
        <p:nvSpPr>
          <p:cNvPr id="4" name="">
            <a:extLst xmlns:a="http://schemas.openxmlformats.org/drawingml/2006/main">
              <a:ext uri="{FF2B5EF4-FFF2-40B4-BE49-F238E27FC236}">
                <a16:creationId xmlns:a16="http://schemas.microsoft.com/office/drawing/2014/main" id="{5FA32DBC-F526-4B0B-B5D7-45D5E86FB9A1}"/>
              </a:ext>
            </a:extLst>
          </p:cNvPr>
          <p:cNvSpPr>
            <a:spLocks xmlns:a="http://schemas.openxmlformats.org/drawingml/2006/main" noGrp="1"/>
          </p:cNvSpPr>
          <p:nvPr/>
        </p:nvSpPr>
        <p:spPr>
          <a:xfrm xmlns:a="http://schemas.openxmlformats.org/drawingml/2006/main">
            <a:off x="666750" y="2762250"/>
            <a:ext cx="5334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9202E"/>
                </a:solidFill>
                <a:latin typeface="Arial"/>
                <a:ea typeface="Arial"/>
                <a:cs typeface="Arial"/>
              </a:defRPr>
            </a:pPr>
            <a:r>
              <a:rPr sz="2175" b="0">
                <a:solidFill>
                  <a:srgbClr val="19202E"/>
                </a:solidFill>
                <a:latin typeface="Arial"/>
                <a:ea typeface="Arial"/>
                <a:cs typeface="Arial"/>
              </a:rPr>
              <a:t>Messenger, Notes, Projects</a:t>
            </a:r>
          </a:p>
          <a:p xmlns:a="http://schemas.openxmlformats.org/drawingml/2006/main">
            <a:pPr>
              <a:defRPr sz="2175" b="0">
                <a:solidFill>
                  <a:srgbClr val="19202E"/>
                </a:solidFill>
                <a:latin typeface="Arial"/>
                <a:ea typeface="Arial"/>
                <a:cs typeface="Arial"/>
              </a:defRPr>
            </a:pPr>
            <a:r>
              <a:rPr sz="2175" b="0">
                <a:solidFill>
                  <a:srgbClr val="19202E"/>
                </a:solidFill>
                <a:latin typeface="Arial"/>
                <a:ea typeface="Arial"/>
                <a:cs typeface="Arial"/>
              </a:rPr>
              <a:t>Календар, контакти та файли Core</a:t>
            </a:r>
          </a:p>
        </p:txBody>
      </p:sp>
      <p:sp>
        <p:nvSpPr>
          <p:cNvPr id="5" name="">
            <a:extLst xmlns:a="http://schemas.openxmlformats.org/drawingml/2006/main">
              <a:ext uri="{FF2B5EF4-FFF2-40B4-BE49-F238E27FC236}">
                <a16:creationId xmlns:a16="http://schemas.microsoft.com/office/drawing/2014/main" id="{053B9443-4558-4EA9-B9C0-627B0AE3C322}"/>
              </a:ext>
            </a:extLst>
          </p:cNvPr>
          <p:cNvSpPr>
            <a:spLocks xmlns:a="http://schemas.openxmlformats.org/drawingml/2006/main" noGrp="1"/>
          </p:cNvSpPr>
          <p:nvPr/>
        </p:nvSpPr>
        <p:spPr>
          <a:xfrm xmlns:a="http://schemas.openxmlformats.org/drawingml/2006/main">
            <a:off x="6762750" y="1952625"/>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A74E36"/>
                </a:solidFill>
                <a:latin typeface="Arial"/>
                <a:ea typeface="Arial"/>
                <a:cs typeface="Arial"/>
              </a:defRPr>
            </a:pPr>
            <a:r>
              <a:rPr sz="2550" b="1">
                <a:solidFill>
                  <a:srgbClr val="A74E36"/>
                </a:solidFill>
                <a:latin typeface="Arial"/>
                <a:ea typeface="Arial"/>
                <a:cs typeface="Arial"/>
              </a:rPr>
              <a:t>Власні домени</a:t>
            </a:r>
          </a:p>
        </p:txBody>
      </p:sp>
      <p:sp>
        <p:nvSpPr>
          <p:cNvPr id="6" name="">
            <a:extLst xmlns:a="http://schemas.openxmlformats.org/drawingml/2006/main">
              <a:ext uri="{FF2B5EF4-FFF2-40B4-BE49-F238E27FC236}">
                <a16:creationId xmlns:a16="http://schemas.microsoft.com/office/drawing/2014/main" id="{0C4112EC-B9E8-4774-9545-B325A741B20D}"/>
              </a:ext>
            </a:extLst>
          </p:cNvPr>
          <p:cNvSpPr>
            <a:spLocks xmlns:a="http://schemas.openxmlformats.org/drawingml/2006/main" noGrp="1"/>
          </p:cNvSpPr>
          <p:nvPr/>
        </p:nvSpPr>
        <p:spPr>
          <a:xfrm xmlns:a="http://schemas.openxmlformats.org/drawingml/2006/main">
            <a:off x="6762750" y="2762250"/>
            <a:ext cx="4619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9202E"/>
                </a:solidFill>
                <a:latin typeface="Arial"/>
                <a:ea typeface="Arial"/>
                <a:cs typeface="Arial"/>
              </a:defRPr>
            </a:pPr>
            <a:r>
              <a:rPr sz="2175" b="0">
                <a:solidFill>
                  <a:srgbClr val="19202E"/>
                </a:solidFill>
                <a:latin typeface="Arial"/>
                <a:ea typeface="Arial"/>
                <a:cs typeface="Arial"/>
              </a:rPr>
              <a:t>CRM, ОСББ, запис до бізнесу</a:t>
            </a:r>
          </a:p>
          <a:p xmlns:a="http://schemas.openxmlformats.org/drawingml/2006/main">
            <a:pPr>
              <a:defRPr sz="2175" b="0">
                <a:solidFill>
                  <a:srgbClr val="19202E"/>
                </a:solidFill>
                <a:latin typeface="Arial"/>
                <a:ea typeface="Arial"/>
                <a:cs typeface="Arial"/>
              </a:defRPr>
            </a:pPr>
            <a:r>
              <a:rPr sz="2175" b="0">
                <a:solidFill>
                  <a:srgbClr val="19202E"/>
                </a:solidFill>
                <a:latin typeface="Arial"/>
                <a:ea typeface="Arial"/>
                <a:cs typeface="Arial"/>
              </a:rPr>
              <a:t>City Portal зі своїм App у VIDA</a:t>
            </a:r>
          </a:p>
        </p:txBody>
      </p:sp>
      <p:sp>
        <p:nvSpPr>
          <p:cNvPr id="7" name="">
            <a:extLst xmlns:a="http://schemas.openxmlformats.org/drawingml/2006/main">
              <a:ext uri="{FF2B5EF4-FFF2-40B4-BE49-F238E27FC236}">
                <a16:creationId xmlns:a16="http://schemas.microsoft.com/office/drawing/2014/main" id="{DE78532C-6312-4938-9B3F-77ACD4535CB0}"/>
              </a:ext>
            </a:extLst>
          </p:cNvPr>
          <p:cNvSpPr>
            <a:spLocks xmlns:a="http://schemas.openxmlformats.org/drawingml/2006/main" noGrp="1"/>
          </p:cNvSpPr>
          <p:nvPr/>
        </p:nvSpPr>
        <p:spPr>
          <a:xfrm xmlns:a="http://schemas.openxmlformats.org/drawingml/2006/main">
            <a:off x="666750" y="48101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9202E"/>
                </a:solidFill>
                <a:latin typeface="Arial"/>
                <a:ea typeface="Arial"/>
                <a:cs typeface="Arial"/>
              </a:defRPr>
            </a:pPr>
            <a:r>
              <a:rPr sz="2325" b="0">
                <a:solidFill>
                  <a:srgbClr val="19202E"/>
                </a:solidFill>
                <a:latin typeface="Arial"/>
                <a:ea typeface="Arial"/>
                <a:cs typeface="Arial"/>
              </a:rPr>
              <a:t>Заплановано: пакети через маркетплейс і зовнішні джерела</a:t>
            </a:r>
          </a:p>
        </p:txBody>
      </p:sp>
    </p:spTree>
    <p:extLst>
      <p:ext uri="{BB962C8B-B14F-4D97-AF65-F5344CB8AC3E}">
        <p14:creationId xmlns:p14="http://schemas.microsoft.com/office/powerpoint/2010/main" val="1892533248"/>
      </p:ext>
    </p:extLst>
  </p:cSld>
</p:sld>
</file>

<file path=ppt/slides/slide6.xml><?xml version="1.0" encoding="utf-8"?>
<p:sld xmlns:p="http://schemas.openxmlformats.org/presentationml/2006/main">
  <p:cSld>
    <p:bg>
      <p:bgPr>
        <a:solidFill xmlns:a="http://schemas.openxmlformats.org/drawingml/2006/main">
          <a:srgbClr val="FDFC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70C75D-6BFA-4F84-9BB0-CE126BAA65B4}"/>
              </a:ext>
            </a:extLst>
          </p:cNvPr>
          <p:cNvSpPr>
            <a:spLocks xmlns:a="http://schemas.openxmlformats.org/drawingml/2006/main" noGrp="1"/>
          </p:cNvSpPr>
          <p:nvPr/>
        </p:nvSpPr>
        <p:spPr>
          <a:xfrm xmlns:a="http://schemas.openxmlformats.org/drawingml/2006/main">
            <a:off x="666750" y="523875"/>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9202E"/>
                </a:solidFill>
                <a:latin typeface="Arial"/>
                <a:ea typeface="Arial"/>
                <a:cs typeface="Arial"/>
              </a:defRPr>
            </a:pPr>
            <a:r>
              <a:rPr sz="3600" b="1">
                <a:solidFill>
                  <a:srgbClr val="19202E"/>
                </a:solidFill>
                <a:latin typeface="Arial"/>
                <a:ea typeface="Arial"/>
                <a:cs typeface="Arial"/>
              </a:rPr>
              <a:t>Iroh: розширення дослідницького каталогу</a:t>
            </a:r>
          </a:p>
        </p:txBody>
      </p:sp>
      <p:sp>
        <p:nvSpPr>
          <p:cNvPr id="2" name="">
            <a:extLst xmlns:a="http://schemas.openxmlformats.org/drawingml/2006/main">
              <a:ext uri="{FF2B5EF4-FFF2-40B4-BE49-F238E27FC236}">
                <a16:creationId xmlns:a16="http://schemas.microsoft.com/office/drawing/2014/main" id="{D907C49F-5186-4168-ABFD-5F33CB40F8D3}"/>
              </a:ext>
            </a:extLst>
          </p:cNvPr>
          <p:cNvSpPr>
            <a:spLocks xmlns:a="http://schemas.openxmlformats.org/drawingml/2006/main" noGrp="1"/>
          </p:cNvSpPr>
          <p:nvPr/>
        </p:nvSpPr>
        <p:spPr>
          <a:xfrm xmlns:a="http://schemas.openxmlformats.org/drawingml/2006/main">
            <a:off x="666750" y="62865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656E"/>
                </a:solidFill>
                <a:latin typeface="Arial"/>
                <a:ea typeface="Arial"/>
                <a:cs typeface="Arial"/>
              </a:defRPr>
            </a:pPr>
            <a:r>
              <a:rPr sz="1275" b="0">
                <a:solidFill>
                  <a:srgbClr val="5E656E"/>
                </a:solidFill>
                <a:latin typeface="Arial"/>
                <a:ea typeface="Arial"/>
                <a:cs typeface="Arial"/>
              </a:rPr>
              <a:t>VIDA   /   6 з 8</a:t>
            </a:r>
          </a:p>
        </p:txBody>
      </p:sp>
      <p:sp>
        <p:nvSpPr>
          <p:cNvPr id="3" name="">
            <a:extLst xmlns:a="http://schemas.openxmlformats.org/drawingml/2006/main">
              <a:ext uri="{FF2B5EF4-FFF2-40B4-BE49-F238E27FC236}">
                <a16:creationId xmlns:a16="http://schemas.microsoft.com/office/drawing/2014/main" id="{3A79F24A-FB29-41E0-A2EC-5738C5E6AB71}"/>
              </a:ext>
            </a:extLst>
          </p:cNvPr>
          <p:cNvSpPr>
            <a:spLocks xmlns:a="http://schemas.openxmlformats.org/drawingml/2006/main" noGrp="1"/>
          </p:cNvSpPr>
          <p:nvPr/>
        </p:nvSpPr>
        <p:spPr>
          <a:xfrm xmlns:a="http://schemas.openxmlformats.org/drawingml/2006/main">
            <a:off x="666750" y="1828800"/>
            <a:ext cx="5095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75" b="1">
                <a:solidFill>
                  <a:srgbClr val="A74E36"/>
                </a:solidFill>
                <a:latin typeface="Arial"/>
                <a:ea typeface="Arial"/>
                <a:cs typeface="Arial"/>
              </a:defRPr>
            </a:pPr>
            <a:r>
              <a:rPr sz="5175" b="1">
                <a:solidFill>
                  <a:srgbClr val="A74E36"/>
                </a:solidFill>
                <a:latin typeface="Arial"/>
                <a:ea typeface="Arial"/>
                <a:cs typeface="Arial"/>
              </a:rPr>
              <a:t>54 → ≈102</a:t>
            </a:r>
          </a:p>
        </p:txBody>
      </p:sp>
      <p:sp>
        <p:nvSpPr>
          <p:cNvPr id="4" name="">
            <a:extLst xmlns:a="http://schemas.openxmlformats.org/drawingml/2006/main">
              <a:ext uri="{FF2B5EF4-FFF2-40B4-BE49-F238E27FC236}">
                <a16:creationId xmlns:a16="http://schemas.microsoft.com/office/drawing/2014/main" id="{98DCD117-0FD8-4A7D-BF1E-F18B1C893F8F}"/>
              </a:ext>
            </a:extLst>
          </p:cNvPr>
          <p:cNvSpPr>
            <a:spLocks xmlns:a="http://schemas.openxmlformats.org/drawingml/2006/main" noGrp="1"/>
          </p:cNvSpPr>
          <p:nvPr/>
        </p:nvSpPr>
        <p:spPr>
          <a:xfrm xmlns:a="http://schemas.openxmlformats.org/drawingml/2006/main">
            <a:off x="666750" y="28765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9202E"/>
                </a:solidFill>
                <a:latin typeface="Arial"/>
                <a:ea typeface="Arial"/>
                <a:cs typeface="Arial"/>
              </a:defRPr>
            </a:pPr>
            <a:r>
              <a:rPr sz="2175" b="0">
                <a:solidFill>
                  <a:srgbClr val="19202E"/>
                </a:solidFill>
                <a:latin typeface="Arial"/>
                <a:ea typeface="Arial"/>
                <a:cs typeface="Arial"/>
              </a:rPr>
              <a:t>≈48 доданих URL за 18–29 вересня 2026</a:t>
            </a:r>
          </a:p>
        </p:txBody>
      </p:sp>
      <p:graphicFrame>
        <p:nvGraphicFramePr>
          <p:cNvPr id="12" name="Chart"/>
          <p:cNvGraphicFramePr/>
          <p:nvPr/>
        </p:nvGraphicFramePr>
        <p:xfrm>
          <a:off xmlns:a="http://schemas.openxmlformats.org/drawingml/2006/main" x="571500" y="3505200"/>
          <a:ext xmlns:a="http://schemas.openxmlformats.org/drawingml/2006/main" cx="6191250" cy="2114550"/>
        </p:xfrm>
        <a:graphic xmlns:a="http://schemas.openxmlformats.org/drawingml/2006/main">
          <a:graphicData uri="http://schemas.openxmlformats.org/drawingml/2006/chart">
            <c:chart xmlns:r="http://schemas.openxmlformats.org/officeDocument/2006/relationships" xmlns:c="http://schemas.openxmlformats.org/drawingml/2006/chart" r:id="Rfda93e5b14324736"/>
          </a:graphicData>
        </a:graphic>
      </p:graphicFrame>
      <p:sp>
        <p:nvSpPr>
          <p:cNvPr id="6" name="">
            <a:extLst xmlns:a="http://schemas.openxmlformats.org/drawingml/2006/main">
              <a:ext uri="{FF2B5EF4-FFF2-40B4-BE49-F238E27FC236}">
                <a16:creationId xmlns:a16="http://schemas.microsoft.com/office/drawing/2014/main" id="{FDD4AAC8-525D-4406-8954-DA9F79C38761}"/>
              </a:ext>
            </a:extLst>
          </p:cNvPr>
          <p:cNvSpPr>
            <a:spLocks xmlns:a="http://schemas.openxmlformats.org/drawingml/2006/main" noGrp="1"/>
          </p:cNvSpPr>
          <p:nvPr/>
        </p:nvSpPr>
        <p:spPr>
          <a:xfrm xmlns:a="http://schemas.openxmlformats.org/drawingml/2006/main">
            <a:off x="7286625" y="3686175"/>
            <a:ext cx="4191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9202E"/>
                </a:solidFill>
                <a:latin typeface="Arial"/>
                <a:ea typeface="Arial"/>
                <a:cs typeface="Arial"/>
              </a:defRPr>
            </a:pPr>
            <a:r>
              <a:rPr sz="1950" b="0">
                <a:solidFill>
                  <a:srgbClr val="19202E"/>
                </a:solidFill>
                <a:latin typeface="Arial"/>
                <a:ea typeface="Arial"/>
                <a:cs typeface="Arial"/>
              </a:rPr>
              <a:t>29.09: +5 URL</a:t>
            </a:r>
          </a:p>
          <a:p xmlns:a="http://schemas.openxmlformats.org/drawingml/2006/main">
            <a:pPr>
              <a:defRPr sz="1950" b="0">
                <a:solidFill>
                  <a:srgbClr val="19202E"/>
                </a:solidFill>
                <a:latin typeface="Arial"/>
                <a:ea typeface="Arial"/>
                <a:cs typeface="Arial"/>
              </a:defRPr>
            </a:pPr>
            <a:r>
              <a:rPr sz="1950" b="0">
                <a:solidFill>
                  <a:srgbClr val="19202E"/>
                </a:solidFill>
                <a:latin typeface="Arial"/>
                <a:ea typeface="Arial"/>
                <a:cs typeface="Arial"/>
              </a:rPr>
              <a:t>Walkie, FarSail, Portal,</a:t>
            </a:r>
          </a:p>
          <a:p xmlns:a="http://schemas.openxmlformats.org/drawingml/2006/main">
            <a:pPr>
              <a:defRPr sz="1950" b="0">
                <a:solidFill>
                  <a:srgbClr val="19202E"/>
                </a:solidFill>
                <a:latin typeface="Arial"/>
                <a:ea typeface="Arial"/>
                <a:cs typeface="Arial"/>
              </a:defRPr>
            </a:pPr>
            <a:r>
              <a:rPr sz="1950" b="0">
                <a:solidFill>
                  <a:srgbClr val="19202E"/>
                </a:solidFill>
                <a:latin typeface="Arial"/>
                <a:ea typeface="Arial"/>
                <a:cs typeface="Arial"/>
              </a:rPr>
              <a:t>ahole, ErisAuth</a:t>
            </a:r>
          </a:p>
        </p:txBody>
      </p:sp>
      <p:sp>
        <p:nvSpPr>
          <p:cNvPr id="7" name="">
            <a:extLst xmlns:a="http://schemas.openxmlformats.org/drawingml/2006/main">
              <a:ext uri="{FF2B5EF4-FFF2-40B4-BE49-F238E27FC236}">
                <a16:creationId xmlns:a16="http://schemas.microsoft.com/office/drawing/2014/main" id="{53FB173E-C443-4308-9466-30BBC8BD5023}"/>
              </a:ext>
            </a:extLst>
          </p:cNvPr>
          <p:cNvSpPr>
            <a:spLocks xmlns:a="http://schemas.openxmlformats.org/drawingml/2006/main" noGrp="1"/>
          </p:cNvSpPr>
          <p:nvPr/>
        </p:nvSpPr>
        <p:spPr>
          <a:xfrm xmlns:a="http://schemas.openxmlformats.org/drawingml/2006/main">
            <a:off x="666750" y="57531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E656E"/>
                </a:solidFill>
                <a:latin typeface="Arial"/>
                <a:ea typeface="Arial"/>
                <a:cs typeface="Arial"/>
              </a:defRPr>
            </a:pPr>
            <a:r>
              <a:rPr sz="1425" b="0">
                <a:solidFill>
                  <a:srgbClr val="5E656E"/>
                </a:solidFill>
                <a:latin typeface="Arial"/>
                <a:ea typeface="Arial"/>
                <a:cs typeface="Arial"/>
              </a:rPr>
              <a:t>Каталог включає суміжні референси. Новостворені проєкти за останні 30 днів не підраховано.</a:t>
            </a:r>
          </a:p>
        </p:txBody>
      </p:sp>
    </p:spTree>
    <p:extLst>
      <p:ext uri="{BB962C8B-B14F-4D97-AF65-F5344CB8AC3E}">
        <p14:creationId xmlns:p14="http://schemas.microsoft.com/office/powerpoint/2010/main" val="416887373"/>
      </p:ext>
    </p:extLst>
  </p:cSld>
</p:sld>
</file>

<file path=ppt/slides/slide7.xml><?xml version="1.0" encoding="utf-8"?>
<p:sld xmlns:p="http://schemas.openxmlformats.org/presentationml/2006/main">
  <p:cSld>
    <p:bg>
      <p:bgPr>
        <a:solidFill xmlns:a="http://schemas.openxmlformats.org/drawingml/2006/main">
          <a:srgbClr val="FDFC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7DD01F2-D23B-430F-88D8-61879B28ED5A}"/>
              </a:ext>
            </a:extLst>
          </p:cNvPr>
          <p:cNvSpPr>
            <a:spLocks xmlns:a="http://schemas.openxmlformats.org/drawingml/2006/main" noGrp="1"/>
          </p:cNvSpPr>
          <p:nvPr/>
        </p:nvSpPr>
        <p:spPr>
          <a:xfrm xmlns:a="http://schemas.openxmlformats.org/drawingml/2006/main">
            <a:off x="666750" y="523875"/>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9202E"/>
                </a:solidFill>
                <a:latin typeface="Arial"/>
                <a:ea typeface="Arial"/>
                <a:cs typeface="Arial"/>
              </a:defRPr>
            </a:pPr>
            <a:r>
              <a:rPr sz="3600" b="1">
                <a:solidFill>
                  <a:srgbClr val="19202E"/>
                </a:solidFill>
                <a:latin typeface="Arial"/>
                <a:ea typeface="Arial"/>
                <a:cs typeface="Arial"/>
              </a:rPr>
              <a:t>Стан проєкту</a:t>
            </a:r>
          </a:p>
        </p:txBody>
      </p:sp>
      <p:sp>
        <p:nvSpPr>
          <p:cNvPr id="2" name="">
            <a:extLst xmlns:a="http://schemas.openxmlformats.org/drawingml/2006/main">
              <a:ext uri="{FF2B5EF4-FFF2-40B4-BE49-F238E27FC236}">
                <a16:creationId xmlns:a16="http://schemas.microsoft.com/office/drawing/2014/main" id="{C9BE783C-1806-46CE-A3EA-CFFEE1EB8D40}"/>
              </a:ext>
            </a:extLst>
          </p:cNvPr>
          <p:cNvSpPr>
            <a:spLocks xmlns:a="http://schemas.openxmlformats.org/drawingml/2006/main" noGrp="1"/>
          </p:cNvSpPr>
          <p:nvPr/>
        </p:nvSpPr>
        <p:spPr>
          <a:xfrm xmlns:a="http://schemas.openxmlformats.org/drawingml/2006/main">
            <a:off x="666750" y="62865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656E"/>
                </a:solidFill>
                <a:latin typeface="Arial"/>
                <a:ea typeface="Arial"/>
                <a:cs typeface="Arial"/>
              </a:defRPr>
            </a:pPr>
            <a:r>
              <a:rPr sz="1275" b="0">
                <a:solidFill>
                  <a:srgbClr val="5E656E"/>
                </a:solidFill>
                <a:latin typeface="Arial"/>
                <a:ea typeface="Arial"/>
                <a:cs typeface="Arial"/>
              </a:rPr>
              <a:t>VIDA   /   7 з 8</a:t>
            </a:r>
          </a:p>
        </p:txBody>
      </p:sp>
      <p:sp>
        <p:nvSpPr>
          <p:cNvPr id="3" name="">
            <a:extLst xmlns:a="http://schemas.openxmlformats.org/drawingml/2006/main">
              <a:ext uri="{FF2B5EF4-FFF2-40B4-BE49-F238E27FC236}">
                <a16:creationId xmlns:a16="http://schemas.microsoft.com/office/drawing/2014/main" id="{1F5048D1-1737-4D57-B737-2770BB3036D7}"/>
              </a:ext>
            </a:extLst>
          </p:cNvPr>
          <p:cNvSpPr>
            <a:spLocks xmlns:a="http://schemas.openxmlformats.org/drawingml/2006/main" noGrp="1"/>
          </p:cNvSpPr>
          <p:nvPr/>
        </p:nvSpPr>
        <p:spPr>
          <a:xfrm xmlns:a="http://schemas.openxmlformats.org/drawingml/2006/main">
            <a:off x="666750" y="1952625"/>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74E36"/>
                </a:solidFill>
                <a:latin typeface="Arial"/>
                <a:ea typeface="Arial"/>
                <a:cs typeface="Arial"/>
              </a:defRPr>
            </a:pPr>
            <a:r>
              <a:rPr sz="2175" b="1">
                <a:solidFill>
                  <a:srgbClr val="A74E36"/>
                </a:solidFill>
                <a:latin typeface="Arial"/>
                <a:ea typeface="Arial"/>
                <a:cs typeface="Arial"/>
              </a:rPr>
              <a:t>Реалізовано</a:t>
            </a:r>
          </a:p>
        </p:txBody>
      </p:sp>
      <p:sp>
        <p:nvSpPr>
          <p:cNvPr id="4" name="">
            <a:extLst xmlns:a="http://schemas.openxmlformats.org/drawingml/2006/main">
              <a:ext uri="{FF2B5EF4-FFF2-40B4-BE49-F238E27FC236}">
                <a16:creationId xmlns:a16="http://schemas.microsoft.com/office/drawing/2014/main" id="{4BE0715F-5FB5-4CED-8842-055DB6154BD9}"/>
              </a:ext>
            </a:extLst>
          </p:cNvPr>
          <p:cNvSpPr>
            <a:spLocks xmlns:a="http://schemas.openxmlformats.org/drawingml/2006/main" noGrp="1"/>
          </p:cNvSpPr>
          <p:nvPr/>
        </p:nvSpPr>
        <p:spPr>
          <a:xfrm xmlns:a="http://schemas.openxmlformats.org/drawingml/2006/main">
            <a:off x="4191000" y="1952625"/>
            <a:ext cx="709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9202E"/>
                </a:solidFill>
                <a:latin typeface="Arial"/>
                <a:ea typeface="Arial"/>
                <a:cs typeface="Arial"/>
              </a:defRPr>
            </a:pPr>
            <a:r>
              <a:rPr sz="2175" b="0">
                <a:solidFill>
                  <a:srgbClr val="19202E"/>
                </a:solidFill>
                <a:latin typeface="Arial"/>
                <a:ea typeface="Arial"/>
                <a:cs typeface="Arial"/>
              </a:rPr>
              <a:t>Презентаційний сайт</a:t>
            </a:r>
          </a:p>
        </p:txBody>
      </p:sp>
      <p:sp>
        <p:nvSpPr>
          <p:cNvPr id="5" name="">
            <a:extLst xmlns:a="http://schemas.openxmlformats.org/drawingml/2006/main">
              <a:ext uri="{FF2B5EF4-FFF2-40B4-BE49-F238E27FC236}">
                <a16:creationId xmlns:a16="http://schemas.microsoft.com/office/drawing/2014/main" id="{F142A1BF-CB99-4E3D-8444-A8DC269A00DF}"/>
              </a:ext>
            </a:extLst>
          </p:cNvPr>
          <p:cNvSpPr>
            <a:spLocks xmlns:a="http://schemas.openxmlformats.org/drawingml/2006/main" noGrp="1"/>
          </p:cNvSpPr>
          <p:nvPr/>
        </p:nvSpPr>
        <p:spPr>
          <a:xfrm xmlns:a="http://schemas.openxmlformats.org/drawingml/2006/main">
            <a:off x="666750" y="2895600"/>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74E36"/>
                </a:solidFill>
                <a:latin typeface="Arial"/>
                <a:ea typeface="Arial"/>
                <a:cs typeface="Arial"/>
              </a:defRPr>
            </a:pPr>
            <a:r>
              <a:rPr sz="2175" b="1">
                <a:solidFill>
                  <a:srgbClr val="A74E36"/>
                </a:solidFill>
                <a:latin typeface="Arial"/>
                <a:ea typeface="Arial"/>
                <a:cs typeface="Arial"/>
              </a:rPr>
              <a:t>Прототип</a:t>
            </a:r>
          </a:p>
        </p:txBody>
      </p:sp>
      <p:sp>
        <p:nvSpPr>
          <p:cNvPr id="6" name="">
            <a:extLst xmlns:a="http://schemas.openxmlformats.org/drawingml/2006/main">
              <a:ext uri="{FF2B5EF4-FFF2-40B4-BE49-F238E27FC236}">
                <a16:creationId xmlns:a16="http://schemas.microsoft.com/office/drawing/2014/main" id="{DEAA0BD2-B968-4A38-B65D-A8D31D4DEDC7}"/>
              </a:ext>
            </a:extLst>
          </p:cNvPr>
          <p:cNvSpPr>
            <a:spLocks xmlns:a="http://schemas.openxmlformats.org/drawingml/2006/main" noGrp="1"/>
          </p:cNvSpPr>
          <p:nvPr/>
        </p:nvSpPr>
        <p:spPr>
          <a:xfrm xmlns:a="http://schemas.openxmlformats.org/drawingml/2006/main">
            <a:off x="4191000" y="2895600"/>
            <a:ext cx="709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9202E"/>
                </a:solidFill>
                <a:latin typeface="Arial"/>
                <a:ea typeface="Arial"/>
                <a:cs typeface="Arial"/>
              </a:defRPr>
            </a:pPr>
            <a:r>
              <a:rPr sz="2175" b="0">
                <a:solidFill>
                  <a:srgbClr val="19202E"/>
                </a:solidFill>
                <a:latin typeface="Arial"/>
                <a:ea typeface="Arial"/>
                <a:cs typeface="Arial"/>
              </a:rPr>
              <a:t>Розмова, нотатка, задача</a:t>
            </a:r>
          </a:p>
        </p:txBody>
      </p:sp>
      <p:sp>
        <p:nvSpPr>
          <p:cNvPr id="7" name="">
            <a:extLst xmlns:a="http://schemas.openxmlformats.org/drawingml/2006/main">
              <a:ext uri="{FF2B5EF4-FFF2-40B4-BE49-F238E27FC236}">
                <a16:creationId xmlns:a16="http://schemas.microsoft.com/office/drawing/2014/main" id="{422BC8CE-0609-4848-BF57-63C9BCD2139B}"/>
              </a:ext>
            </a:extLst>
          </p:cNvPr>
          <p:cNvSpPr>
            <a:spLocks xmlns:a="http://schemas.openxmlformats.org/drawingml/2006/main" noGrp="1"/>
          </p:cNvSpPr>
          <p:nvPr/>
        </p:nvSpPr>
        <p:spPr>
          <a:xfrm xmlns:a="http://schemas.openxmlformats.org/drawingml/2006/main">
            <a:off x="666750" y="3838575"/>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74E36"/>
                </a:solidFill>
                <a:latin typeface="Arial"/>
                <a:ea typeface="Arial"/>
                <a:cs typeface="Arial"/>
              </a:defRPr>
            </a:pPr>
            <a:r>
              <a:rPr sz="2175" b="1">
                <a:solidFill>
                  <a:srgbClr val="A74E36"/>
                </a:solidFill>
                <a:latin typeface="Arial"/>
                <a:ea typeface="Arial"/>
                <a:cs typeface="Arial"/>
              </a:rPr>
              <a:t>Заплановано</a:t>
            </a:r>
          </a:p>
        </p:txBody>
      </p:sp>
      <p:sp>
        <p:nvSpPr>
          <p:cNvPr id="8" name="">
            <a:extLst xmlns:a="http://schemas.openxmlformats.org/drawingml/2006/main">
              <a:ext uri="{FF2B5EF4-FFF2-40B4-BE49-F238E27FC236}">
                <a16:creationId xmlns:a16="http://schemas.microsoft.com/office/drawing/2014/main" id="{FBD520DD-FEEE-435E-A026-4E4143371677}"/>
              </a:ext>
            </a:extLst>
          </p:cNvPr>
          <p:cNvSpPr>
            <a:spLocks xmlns:a="http://schemas.openxmlformats.org/drawingml/2006/main" noGrp="1"/>
          </p:cNvSpPr>
          <p:nvPr/>
        </p:nvSpPr>
        <p:spPr>
          <a:xfrm xmlns:a="http://schemas.openxmlformats.org/drawingml/2006/main">
            <a:off x="4191000" y="3838575"/>
            <a:ext cx="709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9202E"/>
                </a:solidFill>
                <a:latin typeface="Arial"/>
                <a:ea typeface="Arial"/>
                <a:cs typeface="Arial"/>
              </a:defRPr>
            </a:pPr>
            <a:r>
              <a:rPr sz="2175" b="0">
                <a:solidFill>
                  <a:srgbClr val="19202E"/>
                </a:solidFill>
                <a:latin typeface="Arial"/>
                <a:ea typeface="Arial"/>
                <a:cs typeface="Arial"/>
              </a:rPr>
              <a:t>Продукт і застосунки</a:t>
            </a:r>
          </a:p>
        </p:txBody>
      </p:sp>
      <p:sp>
        <p:nvSpPr>
          <p:cNvPr id="9" name="">
            <a:extLst xmlns:a="http://schemas.openxmlformats.org/drawingml/2006/main">
              <a:ext uri="{FF2B5EF4-FFF2-40B4-BE49-F238E27FC236}">
                <a16:creationId xmlns:a16="http://schemas.microsoft.com/office/drawing/2014/main" id="{EC899DB0-7000-4083-816B-9E2AFF40D2F2}"/>
              </a:ext>
            </a:extLst>
          </p:cNvPr>
          <p:cNvSpPr>
            <a:spLocks xmlns:a="http://schemas.openxmlformats.org/drawingml/2006/main" noGrp="1"/>
          </p:cNvSpPr>
          <p:nvPr/>
        </p:nvSpPr>
        <p:spPr>
          <a:xfrm xmlns:a="http://schemas.openxmlformats.org/drawingml/2006/main">
            <a:off x="666750" y="4781550"/>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74E36"/>
                </a:solidFill>
                <a:latin typeface="Arial"/>
                <a:ea typeface="Arial"/>
                <a:cs typeface="Arial"/>
              </a:defRPr>
            </a:pPr>
            <a:r>
              <a:rPr sz="2175" b="1">
                <a:solidFill>
                  <a:srgbClr val="A74E36"/>
                </a:solidFill>
                <a:latin typeface="Arial"/>
                <a:ea typeface="Arial"/>
                <a:cs typeface="Arial"/>
              </a:rPr>
              <a:t>Відкрите рішення</a:t>
            </a:r>
          </a:p>
        </p:txBody>
      </p:sp>
      <p:sp>
        <p:nvSpPr>
          <p:cNvPr id="10" name="">
            <a:extLst xmlns:a="http://schemas.openxmlformats.org/drawingml/2006/main">
              <a:ext uri="{FF2B5EF4-FFF2-40B4-BE49-F238E27FC236}">
                <a16:creationId xmlns:a16="http://schemas.microsoft.com/office/drawing/2014/main" id="{A92FD41C-526F-4D9F-98E2-40563E6D1CBB}"/>
              </a:ext>
            </a:extLst>
          </p:cNvPr>
          <p:cNvSpPr>
            <a:spLocks xmlns:a="http://schemas.openxmlformats.org/drawingml/2006/main" noGrp="1"/>
          </p:cNvSpPr>
          <p:nvPr/>
        </p:nvSpPr>
        <p:spPr>
          <a:xfrm xmlns:a="http://schemas.openxmlformats.org/drawingml/2006/main">
            <a:off x="4191000" y="4781550"/>
            <a:ext cx="709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9202E"/>
                </a:solidFill>
                <a:latin typeface="Arial"/>
                <a:ea typeface="Arial"/>
                <a:cs typeface="Arial"/>
              </a:defRPr>
            </a:pPr>
            <a:r>
              <a:rPr sz="2175" b="0">
                <a:solidFill>
                  <a:srgbClr val="19202E"/>
                </a:solidFill>
                <a:latin typeface="Arial"/>
                <a:ea typeface="Arial"/>
                <a:cs typeface="Arial"/>
              </a:rPr>
              <a:t>Реалізаційні перевірки</a:t>
            </a:r>
          </a:p>
        </p:txBody>
      </p:sp>
      <p:sp>
        <p:nvSpPr>
          <p:cNvPr id="11" name="">
            <a:extLst xmlns:a="http://schemas.openxmlformats.org/drawingml/2006/main">
              <a:ext uri="{FF2B5EF4-FFF2-40B4-BE49-F238E27FC236}">
                <a16:creationId xmlns:a16="http://schemas.microsoft.com/office/drawing/2014/main" id="{A64AA4BA-FAAA-4823-870B-5B8A102BD60C}"/>
              </a:ext>
            </a:extLst>
          </p:cNvPr>
          <p:cNvSpPr>
            <a:spLocks xmlns:a="http://schemas.openxmlformats.org/drawingml/2006/main" noGrp="1"/>
          </p:cNvSpPr>
          <p:nvPr/>
        </p:nvSpPr>
        <p:spPr>
          <a:xfrm xmlns:a="http://schemas.openxmlformats.org/drawingml/2006/main">
            <a:off x="666750" y="57816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E656E"/>
                </a:solidFill>
                <a:latin typeface="Arial"/>
                <a:ea typeface="Arial"/>
                <a:cs typeface="Arial"/>
              </a:defRPr>
            </a:pPr>
            <a:r>
              <a:rPr sz="1650" b="0">
                <a:solidFill>
                  <a:srgbClr val="5E656E"/>
                </a:solidFill>
                <a:latin typeface="Arial"/>
                <a:ea typeface="Arial"/>
                <a:cs typeface="Arial"/>
              </a:rPr>
              <a:t>Статуси описують конкретні результати. Дату релізу не оголошено.</a:t>
            </a:r>
          </a:p>
        </p:txBody>
      </p:sp>
    </p:spTree>
    <p:extLst>
      <p:ext uri="{BB962C8B-B14F-4D97-AF65-F5344CB8AC3E}">
        <p14:creationId xmlns:p14="http://schemas.microsoft.com/office/powerpoint/2010/main" val="1337152078"/>
      </p:ext>
    </p:extLst>
  </p:cSld>
</p:sld>
</file>

<file path=ppt/slides/slide8.xml><?xml version="1.0" encoding="utf-8"?>
<p:sld xmlns:p="http://schemas.openxmlformats.org/presentationml/2006/main">
  <p:cSld>
    <p:bg>
      <p:bgPr>
        <a:solidFill xmlns:a="http://schemas.openxmlformats.org/drawingml/2006/main">
          <a:srgbClr val="2D3234"/>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702DFAC-DB8E-4568-8C8A-4D148F78FD67}"/>
              </a:ext>
            </a:extLst>
          </p:cNvPr>
          <p:cNvSpPr>
            <a:spLocks xmlns:a="http://schemas.openxmlformats.org/drawingml/2006/main" noGrp="1"/>
          </p:cNvSpPr>
          <p:nvPr/>
        </p:nvSpPr>
        <p:spPr>
          <a:xfrm xmlns:a="http://schemas.openxmlformats.org/drawingml/2006/main">
            <a:off x="666750" y="523875"/>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7F1"/>
                </a:solidFill>
                <a:latin typeface="Arial"/>
                <a:ea typeface="Arial"/>
                <a:cs typeface="Arial"/>
              </a:defRPr>
            </a:pPr>
            <a:r>
              <a:rPr sz="3600" b="1">
                <a:solidFill>
                  <a:srgbClr val="FFF7F1"/>
                </a:solidFill>
                <a:latin typeface="Arial"/>
                <a:ea typeface="Arial"/>
                <a:cs typeface="Arial"/>
              </a:rPr>
              <a:t>Перший внесок у VIDA</a:t>
            </a:r>
          </a:p>
        </p:txBody>
      </p:sp>
      <p:sp>
        <p:nvSpPr>
          <p:cNvPr id="2" name="">
            <a:extLst xmlns:a="http://schemas.openxmlformats.org/drawingml/2006/main">
              <a:ext uri="{FF2B5EF4-FFF2-40B4-BE49-F238E27FC236}">
                <a16:creationId xmlns:a16="http://schemas.microsoft.com/office/drawing/2014/main" id="{1ED5076E-DDAF-4546-8146-367C795851F7}"/>
              </a:ext>
            </a:extLst>
          </p:cNvPr>
          <p:cNvSpPr>
            <a:spLocks xmlns:a="http://schemas.openxmlformats.org/drawingml/2006/main" noGrp="1"/>
          </p:cNvSpPr>
          <p:nvPr/>
        </p:nvSpPr>
        <p:spPr>
          <a:xfrm xmlns:a="http://schemas.openxmlformats.org/drawingml/2006/main">
            <a:off x="666750" y="62865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DDD4CD"/>
                </a:solidFill>
                <a:latin typeface="Arial"/>
                <a:ea typeface="Arial"/>
                <a:cs typeface="Arial"/>
              </a:defRPr>
            </a:pPr>
            <a:r>
              <a:rPr sz="1275" b="0">
                <a:solidFill>
                  <a:srgbClr val="DDD4CD"/>
                </a:solidFill>
                <a:latin typeface="Arial"/>
                <a:ea typeface="Arial"/>
                <a:cs typeface="Arial"/>
              </a:rPr>
              <a:t>VIDA   /   8 з 8</a:t>
            </a:r>
          </a:p>
        </p:txBody>
      </p:sp>
      <p:sp>
        <p:nvSpPr>
          <p:cNvPr id="3" name="">
            <a:extLst xmlns:a="http://schemas.openxmlformats.org/drawingml/2006/main">
              <a:ext uri="{FF2B5EF4-FFF2-40B4-BE49-F238E27FC236}">
                <a16:creationId xmlns:a16="http://schemas.microsoft.com/office/drawing/2014/main" id="{F2028FE7-28B5-4858-B23A-E4AD3BEF6970}"/>
              </a:ext>
            </a:extLst>
          </p:cNvPr>
          <p:cNvSpPr>
            <a:spLocks xmlns:a="http://schemas.openxmlformats.org/drawingml/2006/main" noGrp="1"/>
          </p:cNvSpPr>
          <p:nvPr/>
        </p:nvSpPr>
        <p:spPr>
          <a:xfrm xmlns:a="http://schemas.openxmlformats.org/drawingml/2006/main">
            <a:off x="666750" y="20002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DCA88F"/>
                </a:solidFill>
                <a:latin typeface="Arial"/>
                <a:ea typeface="Arial"/>
                <a:cs typeface="Arial"/>
              </a:defRPr>
            </a:pPr>
            <a:r>
              <a:rPr sz="2400" b="1">
                <a:solidFill>
                  <a:srgbClr val="DCA88F"/>
                </a:solidFill>
                <a:latin typeface="Arial"/>
                <a:ea typeface="Arial"/>
                <a:cs typeface="Arial"/>
              </a:rPr>
              <a:t>Rust   /   Flutter   /   Тестування   /   UX   /   Документація</a:t>
            </a:r>
          </a:p>
        </p:txBody>
      </p:sp>
      <p:sp>
        <p:nvSpPr>
          <p:cNvPr id="4" name="">
            <a:extLst xmlns:a="http://schemas.openxmlformats.org/drawingml/2006/main">
              <a:ext uri="{FF2B5EF4-FFF2-40B4-BE49-F238E27FC236}">
                <a16:creationId xmlns:a16="http://schemas.microsoft.com/office/drawing/2014/main" id="{AB49E88C-D6EB-4BD4-909B-7D2F1F1FF6DF}"/>
              </a:ext>
            </a:extLst>
          </p:cNvPr>
          <p:cNvSpPr>
            <a:spLocks xmlns:a="http://schemas.openxmlformats.org/drawingml/2006/main" noGrp="1"/>
          </p:cNvSpPr>
          <p:nvPr/>
        </p:nvSpPr>
        <p:spPr>
          <a:xfrm xmlns:a="http://schemas.openxmlformats.org/drawingml/2006/main">
            <a:off x="666750" y="3048000"/>
            <a:ext cx="10477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FF7F1"/>
                </a:solidFill>
                <a:latin typeface="Arial"/>
                <a:ea typeface="Arial"/>
                <a:cs typeface="Arial"/>
              </a:defRPr>
            </a:pPr>
            <a:r>
              <a:rPr sz="2550" b="0">
                <a:solidFill>
                  <a:srgbClr val="FFF7F1"/>
                </a:solidFill>
                <a:latin typeface="Arial"/>
                <a:ea typeface="Arial"/>
                <a:cs typeface="Arial"/>
              </a:rPr>
              <a:t>Оберіть невелику ділянку.</a:t>
            </a:r>
          </a:p>
          <a:p xmlns:a="http://schemas.openxmlformats.org/drawingml/2006/main">
            <a:pPr>
              <a:defRPr sz="2550" b="0">
                <a:solidFill>
                  <a:srgbClr val="FFF7F1"/>
                </a:solidFill>
                <a:latin typeface="Arial"/>
                <a:ea typeface="Arial"/>
                <a:cs typeface="Arial"/>
              </a:defRPr>
            </a:pPr>
            <a:r>
              <a:rPr sz="2550" b="0">
                <a:solidFill>
                  <a:srgbClr val="FFF7F1"/>
                </a:solidFill>
                <a:latin typeface="Arial"/>
                <a:ea typeface="Arial"/>
                <a:cs typeface="Arial"/>
              </a:rPr>
              <a:t>Узгодьте зміну через репозиторій.</a:t>
            </a:r>
          </a:p>
          <a:p xmlns:a="http://schemas.openxmlformats.org/drawingml/2006/main">
            <a:pPr>
              <a:defRPr sz="2550" b="0">
                <a:solidFill>
                  <a:srgbClr val="FFF7F1"/>
                </a:solidFill>
                <a:latin typeface="Arial"/>
                <a:ea typeface="Arial"/>
                <a:cs typeface="Arial"/>
              </a:defRPr>
            </a:pPr>
            <a:r>
              <a:rPr sz="2550" b="0">
                <a:solidFill>
                  <a:srgbClr val="FFF7F1"/>
                </a:solidFill>
                <a:latin typeface="Arial"/>
                <a:ea typeface="Arial"/>
                <a:cs typeface="Arial"/>
              </a:rPr>
              <a:t>Додайте результат і спосіб перевірки.</a:t>
            </a:r>
          </a:p>
        </p:txBody>
      </p:sp>
      <p:sp>
        <p:nvSpPr>
          <p:cNvPr id="5" name="">
            <a:extLst xmlns:a="http://schemas.openxmlformats.org/drawingml/2006/main">
              <a:ext uri="{FF2B5EF4-FFF2-40B4-BE49-F238E27FC236}">
                <a16:creationId xmlns:a16="http://schemas.microsoft.com/office/drawing/2014/main" id="{4B6E9A61-84A9-4A35-A6C1-722844D9A166}"/>
              </a:ext>
            </a:extLst>
          </p:cNvPr>
          <p:cNvSpPr>
            <a:spLocks xmlns:a="http://schemas.openxmlformats.org/drawingml/2006/main" noGrp="1"/>
          </p:cNvSpPr>
          <p:nvPr/>
        </p:nvSpPr>
        <p:spPr>
          <a:xfrm xmlns:a="http://schemas.openxmlformats.org/drawingml/2006/main">
            <a:off x="666750" y="52863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DCA88F"/>
                </a:solidFill>
                <a:latin typeface="Arial"/>
                <a:ea typeface="Arial"/>
                <a:cs typeface="Arial"/>
              </a:defRPr>
            </a:pPr>
            <a:r>
              <a:rPr sz="2325" b="1">
                <a:solidFill>
                  <a:srgbClr val="DCA88F"/>
                </a:solidFill>
                <a:latin typeface="Arial"/>
                <a:ea typeface="Arial"/>
                <a:cs typeface="Arial"/>
              </a:rPr>
              <a:t>github.com/pomazanbohdan/vida</a:t>
            </a:r>
          </a:p>
        </p:txBody>
      </p:sp>
    </p:spTree>
    <p:extLst>
      <p:ext uri="{BB962C8B-B14F-4D97-AF65-F5344CB8AC3E}">
        <p14:creationId xmlns:p14="http://schemas.microsoft.com/office/powerpoint/2010/main" val="8483442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2026-09-29T07:33:30.5860000Z</dcterms:created>
  <dcterms:modified xsi:type="dcterms:W3CDTF">2026-09-29T07:33:30.5870000Z</dcterms:modified>
</coreProperties>
</file>