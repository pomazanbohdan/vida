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Тривалість: 25 секунд.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Уявімо звичайну командну зустріч. Ми домовилися про рішення в чаті, описали його в документі, а задачу створили в іншому сервісі. Коли повертаємося до роботи, доводиться відновлювати причини та шукати посилання. VIDA задумана як простір, у якому цей контекст зберігається разом із дією. Сьогодні я запрошую розробників допомогти перевірити та реалізувати цю ідею.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Джерела: Концепція VIDA та технічні матеріали сайту https://vida-project.pomazan-bogdan.chatgpt.site/#technical-details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Тривалість: 30 секунд.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VIDA розділяє особистий і спільний простір. Людина обирає, що зберігає для себе, а що відкриває команді. Local-first означає, що доступні дані та локальна робота не залежать від постійного з’єднання. Подальший обмін потребує доступного авторизованого вузла. Ми не обіцяємо, що будь-яка серверна дія доступна офлайн. Ця модель є цільовим дизайном продукту, а не заявою про готовий реліз.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Джерела: Концепція VIDA та технічні матеріали сайту https://vida-project.pomazan-bogdan.chatgpt.site/#technical-details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Тривалість: 35 секунд.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Покажу короткий сценарій. У чаті є повідомлення про підготовку зустрічі. Натискаємо збереження рішення й відкриваємо нотатку. З неї переходимо до задачі та позначаємо виконання. Посилання назад зберігає контекст. На сайті це три кроки з підказками й перезапуском. Це інтерфейсний концепт: він не надсилає повідомлень у мережу й не демонструє реалізовану синхронізацію VIDA. Він допомагає перевірити, чи зрозумілий людям сам сценарій.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Джерела: Концепція VIDA та технічні матеріали сайту https://vida-project.pomazan-bogdan.chatgpt.site/#technical-details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vida_functional_mockups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vida_functional_mockups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Тривалість: 30 секунд.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 узгоджений візуальний напрям: дванадцять мобільних екранів, об’єднаних у шість функціональних груп. Простори задають контекст; чати зберігають розмову; задачі переводять її в дію. Документи зберігають знання, пошук допомагає знайти ресурс, а каталог відкриває додаткові застосунки. Номери праворуч відповідають екранам на оригінальному аркуші. Це концепт інтерфейсу; він не є підтвердженням реалізації функцій. Остаточний обсяг і межі доступу визначаються контрактами VIDA.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Джерело: research/ChatGPT Image 18 сент. 2026 г., 19_06_14.png. Оригінальні макети збережено без перемальовування.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vida_functional_mockups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Тривалість: 40 секунд.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Flutter звертається до ядра через SDK із типізованими командами та запитами. Core перевіряє schema, policy та причинні передумови. Операція має стабільний OperationId і підпис. Runtime підключає SyncLog для історії та BlobStore для великих файлів. VidaNodeHost керує Iroh. QUIC захищає транспорт, ALPN обирає обробник протоколу. Native-політика VIDA пріоритезує прямий шлях, relay є резервним транспортом і не зберігає повідомлення офлайн. Після локального commit зміна передається й перевіряється peer. Receipt доставки не замінює доменне прийняття. Точні wire formats та browser direct-path залишаються відкритими.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Джерела: сайт VIDA, #core-details, #sync-details, #iroh-protocol; цільова архітектура, не готовий runtime.</a:t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Тривалість: 30 секунд.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AppPackage описує версійні схеми, команди, workflow, UI та права. AppInstance є конкретною активацією пакета у Space. CRM і ОСББ використовують стандартні залежності та додають власні ресурси. Календар, контакти й файли надає Core. Каталог лише допомагає знайти пакет: перевірка передує активації. City Portal залишається незалежною платформою, а його App працює через інтеграційний адаптер. Межа доступу явна: залежність не відкриває весь приватний Space. Формати signing та migration ABI ще потребують специфікації.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Джерела: сайт VIDA #composition, #schema-details, #marketplaces, #external-platforms.</a:t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Тривалість: 45 секунд.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Ресерч за вересень показує збільшення нашого каталогу від 54 до приблизно 102 окремих URL репозиторіїв. Це приблизно 48 нових записів за доступне вікно від 18 до 29 вересня. У найновішому доповненні п’ять URL: Walkie, FarSail, Portal, ahole та ErisAuth. Теми охоплюють агентні середовища, віддалений доступ, файли й авторизацію. Це показує широту знайдених застосувань. Ми не називаємо всі ці проєкти створеними за місяць: частина має давнішу історію, а повної бази за останні 30 днів немає. Розширення нашого огляду не є виміром зростання всієї екосистеми.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Джерела: research/iroh-local-first-research-index-2026-09-18.md, вступ, актуалізація 29.09.2026; research/iroh-reference-projects-update-2026-09-29.md. Опублікована методика: https://vida-project.pomazan-bogdan.chatgpt.site/reference/iroh-research-september.md</a:t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Тривалість: 30 секунд.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Реалізовано. Презентаційний сайт. Навігація та інтерактивні пояснення працюють у браузері. Це результат сайту, не реліз VIDA. Прототип. Розмова, нотатка, задача. Інтерактивний концепт демонструє зв’язок контексту. Дані існують лише на сторінці. Заплановано. Продукт і застосунки. Базовий набір VIDA, клієнти Flutter та бізнес-застосунки. Дату публічного релізу не оголошено. Відкрите рішення. Реалізаційні перевірки. Редактор і CRDT, browser transport, media/E2EE та деталі форматів потребують перевірки. Архітектурні межі описані в документації. Наявність такого опису не означає, що всі компоненти вже працюють у продукті. Ця межа важлива для чесного запрошення до розробки.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Джерела: Концепція VIDA та технічні матеріали сайту https://vida-project.pomazan-bogdan.chatgpt.site/#technical-details</a:t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Тривалість: 35 секунд.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Запрошуємо людей із Rust, Flutter, тестування, UX та документації. Приклади внеску: перевірка повторної доставки й причинності, SDK-сценарій клієнта, зрозумілі статуси pending або документація пакета. </a:t>
            </a:r>
            <a:r>
              <a:rPr lang="en-US"/>
              <a:t>Репозиторій публічний. QR-код на слайді веде безпосередньо до коду та документації на GitHub.</a:t>
            </a:r>
            <a:r>
              <a:rPr lang="en-US"/>
              <a:t> Далі погодьте невелику зміну та додайте докази перевірки. На 29 вересня відкритих issues із міткою good first issue не знайдено. Напрями на сайті є пропозиціями для обговорення.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Джерело: GitHub API pomazanbohdan/vida, перевірено 29.09.2026.</a:t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pomazanbohdan.github.io/vida/" TargetMode="External"/><Relationship Id="rId5" Type="http://schemas.openxmlformats.org/officeDocument/2006/relationships/hyperlink" Target="https://pomazanbohdan.github.io/vida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pomazanbohdan/vida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66750" y="523875"/>
            <a:ext cx="10668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Контекст губиться між інструментами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66750" y="62865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5E656E"/>
                </a:solidFill>
              </a:rPr>
              <a:t>VIDA   /   1 з 9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66750" y="2190750"/>
            <a:ext cx="647700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75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Розмова залишається в чаті.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75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Рішення живе в окремій нотатці.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75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Задача втрачає пояснення.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66750" y="4762500"/>
            <a:ext cx="781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VIDA пов’язує ці кроки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в одному просторі.</a:t>
            </a:r>
            <a:endParaRPr/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0" y="21590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/>
        </p:nvSpPr>
        <p:spPr>
          <a:xfrm>
            <a:off x="8039100" y="4991100"/>
            <a:ext cx="34290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rgbClr val="A64D36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Сайт проєкту VIDA</a:t>
            </a:r>
            <a:endParaRPr sz="1500">
              <a:solidFill>
                <a:srgbClr val="A64D3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rgbClr val="A64D36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pomazanbohdan.github.io/vida/</a:t>
            </a:r>
            <a:endParaRPr sz="1500">
              <a:solidFill>
                <a:srgbClr val="A64D3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B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66750" y="523875"/>
            <a:ext cx="10668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Особистий і спільний простір</a:t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666750" y="62865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5E656E"/>
                </a:solidFill>
              </a:rPr>
              <a:t>VIDA   /   2 з 9</a:t>
            </a:r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0" y="1905000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666750" y="2000250"/>
            <a:ext cx="6477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Локальні дані на пристрої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66750" y="2905125"/>
            <a:ext cx="619125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Personal Space для власних матеріалів.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Shared Space для спільної роботи.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Доступ до ресурсів за явними правами.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66750" y="54768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E656E"/>
                </a:solidFill>
                <a:latin typeface="Arial"/>
                <a:ea typeface="Arial"/>
                <a:cs typeface="Arial"/>
                <a:sym typeface="Arial"/>
              </a:rPr>
              <a:t>Заплановано. Публічний реліз ще попереду.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B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666750" y="523875"/>
            <a:ext cx="10668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Розмова, нотатка, задача</a:t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666750" y="62865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5E656E"/>
                </a:solidFill>
              </a:rPr>
              <a:t>VIDA   /   3 з 9</a:t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666750" y="2000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01  Розмова</a:t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66750" y="2809875"/>
            <a:ext cx="3143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Команда обговорює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наступну зустріч.</a:t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4429125" y="2000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02  Нотатка</a:t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4429125" y="2809875"/>
            <a:ext cx="3143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Рішення зберігає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зв’язок із джерелом.</a:t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8191500" y="20002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03  Задача</a:t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8191500" y="2809875"/>
            <a:ext cx="3143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Виконавець бачить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контекст роботи.</a:t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66750" y="4667250"/>
            <a:ext cx="10572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Прототип: інтерактивний концепт на сайті</a:t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66750" y="538162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E656E"/>
                </a:solidFill>
                <a:latin typeface="Arial"/>
                <a:ea typeface="Arial"/>
                <a:cs typeface="Arial"/>
                <a:sym typeface="Arial"/>
              </a:rPr>
              <a:t>Три кроки з підказками та перезапуском. Дані існують лише на сторінці.</a:t>
            </a:r>
            <a:endParaRPr/>
          </a:p>
        </p:txBody>
      </p:sp>
      <p:sp>
        <p:nvSpPr>
          <p:cNvPr id="48" name="Google Shape;48;p5"/>
          <p:cNvSpPr txBox="1"/>
          <p:nvPr/>
        </p:nvSpPr>
        <p:spPr>
          <a:xfrm>
            <a:off x="666750" y="4010025"/>
            <a:ext cx="105729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5E656E"/>
                </a:solidFill>
              </a:rPr>
              <a:t>Цільовий контракт: Resource ID + relation зберігають зв’язок між ресурсами.</a:t>
            </a:r>
            <a:endParaRPr sz="1725">
              <a:solidFill>
                <a:srgbClr val="5E656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/>
        </p:nvSpPr>
        <p:spPr>
          <a:xfrm>
            <a:off x="666750" y="406400"/>
            <a:ext cx="108585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9202E"/>
                </a:solidFill>
              </a:rPr>
              <a:t>Узгоджені макети: карта функцій</a:t>
            </a:r>
            <a:endParaRPr b="1" sz="3200">
              <a:solidFill>
                <a:srgbClr val="19202E"/>
              </a:solidFill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666750" y="1168400"/>
            <a:ext cx="10794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E656E"/>
                </a:solidFill>
              </a:rPr>
              <a:t>12 екранів мобільного застосунку · концепт інтерфейсу</a:t>
            </a:r>
            <a:endParaRPr sz="1600">
              <a:solidFill>
                <a:srgbClr val="5E656E"/>
              </a:solidFill>
            </a:endParaRPr>
          </a:p>
        </p:txBody>
      </p:sp>
      <p:pic>
        <p:nvPicPr>
          <p:cNvPr id="56" name="Google Shape;5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00" y="1574800"/>
            <a:ext cx="7772402" cy="51816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/>
          <p:nvPr/>
        </p:nvSpPr>
        <p:spPr>
          <a:xfrm>
            <a:off x="8382000" y="1676400"/>
            <a:ext cx="354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74E36"/>
                </a:solidFill>
              </a:rPr>
              <a:t>Простори · 1, 7, 10</a:t>
            </a:r>
            <a:endParaRPr b="1" sz="1900">
              <a:solidFill>
                <a:srgbClr val="A74E36"/>
              </a:solidFill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8382000" y="2032000"/>
            <a:ext cx="354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9202E"/>
                </a:solidFill>
              </a:rPr>
              <a:t>Головна, акаунти та права</a:t>
            </a:r>
            <a:endParaRPr sz="1500">
              <a:solidFill>
                <a:srgbClr val="19202E"/>
              </a:solidFill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8382000" y="2476500"/>
            <a:ext cx="354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74E36"/>
                </a:solidFill>
              </a:rPr>
              <a:t>Спілкування · 2, 3, 8</a:t>
            </a:r>
            <a:endParaRPr b="1" sz="1900">
              <a:solidFill>
                <a:srgbClr val="A74E36"/>
              </a:solidFill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8382000" y="2832100"/>
            <a:ext cx="354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9202E"/>
                </a:solidFill>
              </a:rPr>
              <a:t>Панель чатів, розмова, сповіщення</a:t>
            </a:r>
            <a:endParaRPr sz="1500">
              <a:solidFill>
                <a:srgbClr val="19202E"/>
              </a:solidFill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8382000" y="3276600"/>
            <a:ext cx="354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74E36"/>
                </a:solidFill>
              </a:rPr>
              <a:t>Робота · 4, 9</a:t>
            </a:r>
            <a:endParaRPr b="1" sz="1900">
              <a:solidFill>
                <a:srgbClr val="A74E36"/>
              </a:solidFill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8382000" y="3632200"/>
            <a:ext cx="354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9202E"/>
                </a:solidFill>
              </a:rPr>
              <a:t>Задачі та контекстне створення</a:t>
            </a:r>
            <a:endParaRPr sz="1500">
              <a:solidFill>
                <a:srgbClr val="19202E"/>
              </a:solidFill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8382000" y="4076700"/>
            <a:ext cx="354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74E36"/>
                </a:solidFill>
              </a:rPr>
              <a:t>Знання · 5, 12</a:t>
            </a:r>
            <a:endParaRPr b="1" sz="1900">
              <a:solidFill>
                <a:srgbClr val="A74E36"/>
              </a:solidFill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8382000" y="4432300"/>
            <a:ext cx="354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9202E"/>
                </a:solidFill>
              </a:rPr>
              <a:t>Документи та їх перегляд</a:t>
            </a:r>
            <a:endParaRPr sz="1500">
              <a:solidFill>
                <a:srgbClr val="19202E"/>
              </a:solidFill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8382000" y="4876800"/>
            <a:ext cx="354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74E36"/>
                </a:solidFill>
              </a:rPr>
              <a:t>Пошук · 6</a:t>
            </a:r>
            <a:endParaRPr b="1" sz="1900">
              <a:solidFill>
                <a:srgbClr val="A74E36"/>
              </a:solidFill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8382000" y="5232400"/>
            <a:ext cx="354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9202E"/>
                </a:solidFill>
              </a:rPr>
              <a:t>Спільний пошук за ресурсами</a:t>
            </a:r>
            <a:endParaRPr sz="1500">
              <a:solidFill>
                <a:srgbClr val="19202E"/>
              </a:solidFill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8382000" y="5676900"/>
            <a:ext cx="354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74E36"/>
                </a:solidFill>
              </a:rPr>
              <a:t>Застосунки · 11</a:t>
            </a:r>
            <a:endParaRPr b="1" sz="1900">
              <a:solidFill>
                <a:srgbClr val="A74E36"/>
              </a:solidFill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8382000" y="6032500"/>
            <a:ext cx="354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9202E"/>
                </a:solidFill>
              </a:rPr>
              <a:t>Каталог і встановлені пакети</a:t>
            </a:r>
            <a:endParaRPr sz="1500">
              <a:solidFill>
                <a:srgbClr val="19202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3234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666750" y="523875"/>
            <a:ext cx="10668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7F1"/>
                </a:solidFill>
                <a:latin typeface="Arial"/>
                <a:ea typeface="Arial"/>
                <a:cs typeface="Arial"/>
                <a:sym typeface="Arial"/>
              </a:rPr>
              <a:t>Спільне ядро та транспорт</a:t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666750" y="62865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DDD4CD"/>
                </a:solidFill>
              </a:rPr>
              <a:t>VIDA   /   5 з 9</a:t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666750" y="2047875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DCA88F"/>
                </a:solidFill>
                <a:latin typeface="Arial"/>
                <a:ea typeface="Arial"/>
                <a:cs typeface="Arial"/>
                <a:sym typeface="Arial"/>
              </a:rPr>
              <a:t>Flutter</a:t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666750" y="2762250"/>
            <a:ext cx="2857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6F2EE"/>
                </a:solidFill>
              </a:rPr>
              <a:t>SDK: типізовані</a:t>
            </a:r>
            <a:endParaRPr sz="1900">
              <a:solidFill>
                <a:srgbClr val="F6F2E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6F2EE"/>
                </a:solidFill>
              </a:rPr>
              <a:t>команди та запити</a:t>
            </a:r>
            <a:endParaRPr sz="1900">
              <a:solidFill>
                <a:srgbClr val="F6F2E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6F2EE"/>
                </a:solidFill>
              </a:rPr>
              <a:t>UI без доменних правил</a:t>
            </a:r>
            <a:endParaRPr sz="1900">
              <a:solidFill>
                <a:srgbClr val="F6F2EE"/>
              </a:solidFill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24375" y="2047875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DCA88F"/>
                </a:solidFill>
                <a:latin typeface="Arial"/>
                <a:ea typeface="Arial"/>
                <a:cs typeface="Arial"/>
                <a:sym typeface="Arial"/>
              </a:rPr>
              <a:t>Rust core</a:t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4524375" y="2762250"/>
            <a:ext cx="30480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6F2EE"/>
                </a:solidFill>
              </a:rPr>
              <a:t>Schema + policy</a:t>
            </a:r>
            <a:endParaRPr sz="1900">
              <a:solidFill>
                <a:srgbClr val="F6F2E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6F2EE"/>
                </a:solidFill>
              </a:rPr>
              <a:t>Причинні передумови</a:t>
            </a:r>
            <a:endParaRPr sz="1900">
              <a:solidFill>
                <a:srgbClr val="F6F2E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6F2EE"/>
                </a:solidFill>
              </a:rPr>
              <a:t>OperationId + підпис</a:t>
            </a:r>
            <a:endParaRPr sz="1900">
              <a:solidFill>
                <a:srgbClr val="F6F2EE"/>
              </a:solidFill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8477250" y="20478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DCA88F"/>
                </a:solidFill>
              </a:rPr>
              <a:t>Runtime / Iroh</a:t>
            </a:r>
            <a:endParaRPr b="1" sz="2700">
              <a:solidFill>
                <a:srgbClr val="DCA88F"/>
              </a:solidFill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8477250" y="2762250"/>
            <a:ext cx="2952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6F2EE"/>
                </a:solidFill>
              </a:rPr>
              <a:t>SyncLog / BlobStore</a:t>
            </a:r>
            <a:endParaRPr sz="1900">
              <a:solidFill>
                <a:srgbClr val="F6F2E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6F2EE"/>
                </a:solidFill>
              </a:rPr>
              <a:t>Iroh: QUIC + ALPN</a:t>
            </a:r>
            <a:endParaRPr sz="1900">
              <a:solidFill>
                <a:srgbClr val="F6F2E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6F2EE"/>
                </a:solidFill>
              </a:rPr>
              <a:t>Direct / relay</a:t>
            </a:r>
            <a:endParaRPr sz="1900">
              <a:solidFill>
                <a:srgbClr val="F6F2EE"/>
              </a:solidFill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66750" y="4667250"/>
            <a:ext cx="10572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6F2EE"/>
                </a:solidFill>
              </a:rPr>
              <a:t>Заплановано: commit → обмін → перевірка → receipt</a:t>
            </a:r>
            <a:endParaRPr sz="2200">
              <a:solidFill>
                <a:srgbClr val="F6F2EE"/>
              </a:solidFill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666750" y="5619750"/>
            <a:ext cx="10572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D4CFC9"/>
                </a:solidFill>
              </a:rPr>
              <a:t>Receipt доставки ≠ прийняття бізнесом. Browser direct-path ще відкритий.</a:t>
            </a:r>
            <a:endParaRPr sz="1700">
              <a:solidFill>
                <a:srgbClr val="D4CFC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B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666750" y="523875"/>
            <a:ext cx="10668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Застосунки на спільній основі</a:t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666750" y="62865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5E656E"/>
                </a:solidFill>
              </a:rPr>
              <a:t>VIDA   /   6 з 9</a:t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666750" y="1952625"/>
            <a:ext cx="4857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Стандартний набір</a:t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666750" y="2762250"/>
            <a:ext cx="53340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Messenger, Notes, Projects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Календар, контакти та файли Core</a:t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6762750" y="195262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Власні домени</a:t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6762750" y="2762250"/>
            <a:ext cx="4619625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CRM, ОСББ, запис до бізнесу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City Portal зі своїм App у VIDA</a:t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666750" y="4810125"/>
            <a:ext cx="1066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9202E"/>
                </a:solidFill>
              </a:rPr>
              <a:t>Заплановано: каталог → перевірка пакета → активація у Space</a:t>
            </a:r>
            <a:endParaRPr sz="2200">
              <a:solidFill>
                <a:srgbClr val="19202E"/>
              </a:solidFill>
            </a:endParaRPr>
          </a:p>
        </p:txBody>
      </p:sp>
      <p:sp>
        <p:nvSpPr>
          <p:cNvPr id="96" name="Google Shape;96;p8"/>
          <p:cNvSpPr txBox="1"/>
          <p:nvPr/>
        </p:nvSpPr>
        <p:spPr>
          <a:xfrm>
            <a:off x="666750" y="3752850"/>
            <a:ext cx="5429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5E656E"/>
                </a:solidFill>
              </a:rPr>
              <a:t>AppPackage</a:t>
            </a:r>
            <a:endParaRPr sz="1875">
              <a:solidFill>
                <a:srgbClr val="5E656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5E656E"/>
                </a:solidFill>
              </a:rPr>
              <a:t>Схеми, команди, workflow, UI</a:t>
            </a:r>
            <a:endParaRPr sz="1875">
              <a:solidFill>
                <a:srgbClr val="5E656E"/>
              </a:solidFill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6762750" y="3752850"/>
            <a:ext cx="4667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5E656E"/>
                </a:solidFill>
              </a:rPr>
              <a:t>AppInstance</a:t>
            </a:r>
            <a:endParaRPr sz="1875">
              <a:solidFill>
                <a:srgbClr val="5E656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5E656E"/>
                </a:solidFill>
              </a:rPr>
              <a:t>Space, версія та дозволені залежності</a:t>
            </a:r>
            <a:endParaRPr sz="1875">
              <a:solidFill>
                <a:srgbClr val="5E656E"/>
              </a:solidFill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666750" y="5743575"/>
            <a:ext cx="10477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E656E"/>
                </a:solidFill>
              </a:rPr>
              <a:t>City Portal App → інтеграційний адаптер → backend платформи</a:t>
            </a:r>
            <a:endParaRPr sz="1575">
              <a:solidFill>
                <a:srgbClr val="5E656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/>
          <p:nvPr/>
        </p:nvSpPr>
        <p:spPr>
          <a:xfrm>
            <a:off x="666750" y="523875"/>
            <a:ext cx="10668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Iroh: розширення дослідницького каталогу</a:t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666750" y="62865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5E656E"/>
                </a:solidFill>
              </a:rPr>
              <a:t>VIDA   /   7 з 9</a:t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666750" y="1828800"/>
            <a:ext cx="50958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75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54 → ≈102</a:t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666750" y="2876550"/>
            <a:ext cx="1038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≈48 доданих URL за 18–29 вересня 2026</a:t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7286625" y="3686175"/>
            <a:ext cx="4191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29.09: +5 URL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Walkie, FarSail, Portal,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ahole, ErisAuth</a:t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666750" y="5753100"/>
            <a:ext cx="1057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E656E"/>
                </a:solidFill>
                <a:latin typeface="Arial"/>
                <a:ea typeface="Arial"/>
                <a:cs typeface="Arial"/>
                <a:sym typeface="Arial"/>
              </a:rPr>
              <a:t>Каталог включає суміжні референси. Новостворені проєкти за останні 30 днів не підраховано.</a:t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685800" y="4565904"/>
            <a:ext cx="444600" cy="768000"/>
          </a:xfrm>
          <a:prstGeom prst="rect">
            <a:avLst/>
          </a:prstGeom>
          <a:solidFill>
            <a:srgbClr val="A74E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 txBox="1"/>
          <p:nvPr/>
        </p:nvSpPr>
        <p:spPr>
          <a:xfrm>
            <a:off x="685800" y="4286504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54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685800" y="5397500"/>
            <a:ext cx="635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18.09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1435100" y="4281424"/>
            <a:ext cx="444600" cy="1052700"/>
          </a:xfrm>
          <a:prstGeom prst="rect">
            <a:avLst/>
          </a:prstGeom>
          <a:solidFill>
            <a:srgbClr val="A74E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 txBox="1"/>
          <p:nvPr/>
        </p:nvSpPr>
        <p:spPr>
          <a:xfrm>
            <a:off x="1435100" y="4002024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74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435100" y="5397500"/>
            <a:ext cx="635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21.09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2184400" y="4224528"/>
            <a:ext cx="444600" cy="1109400"/>
          </a:xfrm>
          <a:prstGeom prst="rect">
            <a:avLst/>
          </a:prstGeom>
          <a:solidFill>
            <a:srgbClr val="A74E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 txBox="1"/>
          <p:nvPr/>
        </p:nvSpPr>
        <p:spPr>
          <a:xfrm>
            <a:off x="2184400" y="3945128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78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2184400" y="5397500"/>
            <a:ext cx="635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22.09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2933700" y="4124960"/>
            <a:ext cx="444600" cy="1209000"/>
          </a:xfrm>
          <a:prstGeom prst="rect">
            <a:avLst/>
          </a:prstGeom>
          <a:solidFill>
            <a:srgbClr val="A74E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 txBox="1"/>
          <p:nvPr/>
        </p:nvSpPr>
        <p:spPr>
          <a:xfrm>
            <a:off x="2933700" y="384556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85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2933700" y="5397500"/>
            <a:ext cx="635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23.09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3683000" y="4082288"/>
            <a:ext cx="444600" cy="1251600"/>
          </a:xfrm>
          <a:prstGeom prst="rect">
            <a:avLst/>
          </a:prstGeom>
          <a:solidFill>
            <a:srgbClr val="A74E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3683000" y="3802888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88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3683000" y="5397500"/>
            <a:ext cx="635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24.09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432300" y="4039616"/>
            <a:ext cx="444600" cy="1294500"/>
          </a:xfrm>
          <a:prstGeom prst="rect">
            <a:avLst/>
          </a:prstGeom>
          <a:solidFill>
            <a:srgbClr val="A74E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 txBox="1"/>
          <p:nvPr/>
        </p:nvSpPr>
        <p:spPr>
          <a:xfrm>
            <a:off x="4432300" y="3760216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91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4432300" y="5397500"/>
            <a:ext cx="635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25.09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181600" y="3954272"/>
            <a:ext cx="444600" cy="1379700"/>
          </a:xfrm>
          <a:prstGeom prst="rect">
            <a:avLst/>
          </a:prstGeom>
          <a:solidFill>
            <a:srgbClr val="A74E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5181600" y="3674872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97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5181600" y="5397500"/>
            <a:ext cx="635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27.09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930900" y="3883152"/>
            <a:ext cx="444600" cy="1450800"/>
          </a:xfrm>
          <a:prstGeom prst="rect">
            <a:avLst/>
          </a:prstGeom>
          <a:solidFill>
            <a:srgbClr val="A74E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 txBox="1"/>
          <p:nvPr/>
        </p:nvSpPr>
        <p:spPr>
          <a:xfrm>
            <a:off x="5930900" y="3603752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≈102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5930900" y="5397500"/>
            <a:ext cx="635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</a:rPr>
              <a:t>29.09</a:t>
            </a:r>
            <a:endParaRPr sz="12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/>
          <p:nvPr/>
        </p:nvSpPr>
        <p:spPr>
          <a:xfrm>
            <a:off x="666750" y="523875"/>
            <a:ext cx="10668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Стан проєкту</a:t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666750" y="62865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5E656E"/>
                </a:solidFill>
              </a:rPr>
              <a:t>VIDA   /   8 з 9</a:t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666750" y="1952625"/>
            <a:ext cx="323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Реалізовано</a:t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4191000" y="1952625"/>
            <a:ext cx="7096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Презентаційний сайт</a:t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666750" y="2895600"/>
            <a:ext cx="323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Прототип</a:t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4191000" y="2895600"/>
            <a:ext cx="7096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9202E"/>
                </a:solidFill>
                <a:latin typeface="Arial"/>
                <a:ea typeface="Arial"/>
                <a:cs typeface="Arial"/>
                <a:sym typeface="Arial"/>
              </a:rPr>
              <a:t>Розмова, нотатка, задача</a:t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666750" y="3838575"/>
            <a:ext cx="323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Заплановано</a:t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4191000" y="3838575"/>
            <a:ext cx="7096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9202E"/>
                </a:solidFill>
              </a:rPr>
              <a:t>Клієнти, ядро та застосунки</a:t>
            </a:r>
            <a:endParaRPr sz="2100">
              <a:solidFill>
                <a:srgbClr val="19202E"/>
              </a:solidFill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666750" y="4781550"/>
            <a:ext cx="323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A74E36"/>
                </a:solidFill>
                <a:latin typeface="Arial"/>
                <a:ea typeface="Arial"/>
                <a:cs typeface="Arial"/>
                <a:sym typeface="Arial"/>
              </a:rPr>
              <a:t>Відкрите рішення</a:t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4191000" y="4781550"/>
            <a:ext cx="7096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9202E"/>
                </a:solidFill>
              </a:rPr>
              <a:t>CRDT/editor, Web transport, media/E2EE</a:t>
            </a:r>
            <a:endParaRPr sz="2000">
              <a:solidFill>
                <a:srgbClr val="19202E"/>
              </a:solidFill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666750" y="5781675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E656E"/>
                </a:solidFill>
                <a:latin typeface="Arial"/>
                <a:ea typeface="Arial"/>
                <a:cs typeface="Arial"/>
                <a:sym typeface="Arial"/>
              </a:rPr>
              <a:t>Статуси описують конкретні результати. Дату релізу не оголошено.</a:t>
            </a:r>
            <a:endParaRPr/>
          </a:p>
        </p:txBody>
      </p:sp>
      <p:sp>
        <p:nvSpPr>
          <p:cNvPr id="150" name="Google Shape;150;p10"/>
          <p:cNvSpPr txBox="1"/>
          <p:nvPr/>
        </p:nvSpPr>
        <p:spPr>
          <a:xfrm>
            <a:off x="4191000" y="5229225"/>
            <a:ext cx="7096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E656E"/>
                </a:solidFill>
              </a:rPr>
              <a:t>Wire formats та migration ABI потребують специфікації.</a:t>
            </a:r>
            <a:endParaRPr sz="1575">
              <a:solidFill>
                <a:srgbClr val="5E656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3234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/>
          <p:nvPr/>
        </p:nvSpPr>
        <p:spPr>
          <a:xfrm>
            <a:off x="666750" y="523875"/>
            <a:ext cx="10668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7F1"/>
                </a:solidFill>
                <a:latin typeface="Arial"/>
                <a:ea typeface="Arial"/>
                <a:cs typeface="Arial"/>
                <a:sym typeface="Arial"/>
              </a:rPr>
              <a:t>Перший внесок у VIDA</a:t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666750" y="62865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DDD4CD"/>
                </a:solidFill>
              </a:rPr>
              <a:t>VIDA   /   9 з 9</a:t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666750" y="200025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CA88F"/>
                </a:solidFill>
                <a:latin typeface="Arial"/>
                <a:ea typeface="Arial"/>
                <a:cs typeface="Arial"/>
                <a:sym typeface="Arial"/>
              </a:rPr>
              <a:t>Rust   /   Flutter   /   Тестування   /   UX   /   Документація</a:t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666750" y="3048000"/>
            <a:ext cx="74400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F6F2EE"/>
                </a:solidFill>
              </a:rPr>
              <a:t>Оберіть невелику ділянку.</a:t>
            </a:r>
            <a:endParaRPr sz="2550">
              <a:solidFill>
                <a:srgbClr val="F6F2E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F6F2EE"/>
                </a:solidFill>
              </a:rPr>
              <a:t>Відкрийте репозиторій на GitHub.</a:t>
            </a:r>
            <a:endParaRPr sz="2550">
              <a:solidFill>
                <a:srgbClr val="F6F2E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F6F2EE"/>
                </a:solidFill>
              </a:rPr>
              <a:t>Узгодьте зміну та спосіб перевірки.</a:t>
            </a:r>
            <a:endParaRPr sz="2550">
              <a:solidFill>
                <a:srgbClr val="F6F2EE"/>
              </a:solidFill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666750" y="5286375"/>
            <a:ext cx="1047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 u="sng">
                <a:solidFill>
                  <a:srgbClr val="DCA88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github.com/pomazanbohdan/vida</a:t>
            </a:r>
            <a:endParaRPr>
              <a:solidFill>
                <a:srgbClr val="DCA88F"/>
              </a:solidFill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666750" y="5857875"/>
            <a:ext cx="10477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D4CFC9"/>
                </a:solidFill>
              </a:rPr>
              <a:t>Публічний репозиторій · код і документація</a:t>
            </a:r>
            <a:endParaRPr sz="1575">
              <a:solidFill>
                <a:srgbClr val="D4CFC9"/>
              </a:solidFill>
            </a:endParaRPr>
          </a:p>
        </p:txBody>
      </p:sp>
      <p:pic>
        <p:nvPicPr>
          <p:cNvPr id="162" name="Google Shape;16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6500" y="2997200"/>
            <a:ext cx="2565400" cy="25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