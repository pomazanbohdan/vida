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82525e86754da1" /><Relationship Type="http://schemas.openxmlformats.org/officeDocument/2006/relationships/extended-properties" Target="/docProps/app.xml" Id="Rce48351255254fb1" /><Relationship Type="http://schemas.openxmlformats.org/officeDocument/2006/relationships/officeDocument" Target="/ppt/presentation.xml" Id="R9c36222c06b34678" /></Relationships>
</file>

<file path=ppt/presentation.xml><?xml version="1.0" encoding="utf-8"?>
<p:presentation xmlns:p="http://schemas.openxmlformats.org/presentationml/2006/main">
  <p:sldMasterIdLst>
    <p:sldMasterId xmlns:r="http://schemas.openxmlformats.org/officeDocument/2006/relationships" id="2147483648" r:id="R92a3f58d4b27430d"/>
  </p:sldMasterIdLst>
  <p:notesMasterIdLst>
    <p:notesMasterId xmlns:r="http://schemas.openxmlformats.org/officeDocument/2006/relationships" r:id="R057005fa1b2e40e9"/>
  </p:notesMasterIdLst>
  <p:sldIdLst>
    <p:sldId xmlns:r="http://schemas.openxmlformats.org/officeDocument/2006/relationships" id="256" r:id="Rd292b11e34ae476b"/>
    <p:sldId xmlns:r="http://schemas.openxmlformats.org/officeDocument/2006/relationships" id="257" r:id="Rffddd1b60ec4474c"/>
    <p:sldId xmlns:r="http://schemas.openxmlformats.org/officeDocument/2006/relationships" id="258" r:id="R3c5b76f3b00943f0"/>
    <p:sldId xmlns:r="http://schemas.openxmlformats.org/officeDocument/2006/relationships" id="259" r:id="R94333d642de94f77"/>
    <p:sldId xmlns:r="http://schemas.openxmlformats.org/officeDocument/2006/relationships" id="260" r:id="Rc9e9982dc26e4082"/>
    <p:sldId xmlns:r="http://schemas.openxmlformats.org/officeDocument/2006/relationships" id="261" r:id="R86f3caf7b80f453f"/>
    <p:sldId xmlns:r="http://schemas.openxmlformats.org/officeDocument/2006/relationships" id="262" r:id="R5c1f9194ddf44209"/>
    <p:sldId xmlns:r="http://schemas.openxmlformats.org/officeDocument/2006/relationships" id="263" r:id="R5fda7ebe3362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06809f1ae84c23" /><Relationship Type="http://schemas.openxmlformats.org/officeDocument/2006/relationships/slideMaster" Target="/ppt/slideMasters/slideMaster1.xml" Id="R92a3f58d4b27430d" /><Relationship Type="http://schemas.openxmlformats.org/officeDocument/2006/relationships/notesMaster" Target="/ppt/notesMasters/notesMaster1.xml" Id="R057005fa1b2e40e9" /><Relationship Type="http://schemas.openxmlformats.org/officeDocument/2006/relationships/presProps" Target="/ppt/presProps.xml" Id="Rf238d40980314bdc" /><Relationship Type="http://schemas.openxmlformats.org/officeDocument/2006/relationships/tableStyles" Target="/ppt/tableStyles.xml" Id="Rfd5290267f994699" /><Relationship Type="http://schemas.openxmlformats.org/officeDocument/2006/relationships/slide" Target="/ppt/slides/slide1.xml" Id="Rd292b11e34ae476b" /><Relationship Type="http://schemas.openxmlformats.org/officeDocument/2006/relationships/slide" Target="/ppt/slides/slide2.xml" Id="Rffddd1b60ec4474c" /><Relationship Type="http://schemas.openxmlformats.org/officeDocument/2006/relationships/slide" Target="/ppt/slides/slide3.xml" Id="R3c5b76f3b00943f0" /><Relationship Type="http://schemas.openxmlformats.org/officeDocument/2006/relationships/slide" Target="/ppt/slides/slide4.xml" Id="R94333d642de94f77" /><Relationship Type="http://schemas.openxmlformats.org/officeDocument/2006/relationships/slide" Target="/ppt/slides/slide5.xml" Id="Rc9e9982dc26e4082" /><Relationship Type="http://schemas.openxmlformats.org/officeDocument/2006/relationships/slide" Target="/ppt/slides/slide6.xml" Id="R86f3caf7b80f453f" /><Relationship Type="http://schemas.openxmlformats.org/officeDocument/2006/relationships/slide" Target="/ppt/slides/slide7.xml" Id="R5c1f9194ddf44209" /><Relationship Type="http://schemas.openxmlformats.org/officeDocument/2006/relationships/slide" Target="/ppt/slides/slide8.xml" Id="R5fda7ebe33624e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44d2fa46d440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0893bfaeca4641" /><Relationship Type="http://schemas.openxmlformats.org/officeDocument/2006/relationships/notesMaster" Target="/ppt/notesMasters/notesMaster1.xml" Id="Rfe5e071d3b6449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99f19a6e194926" /><Relationship Type="http://schemas.openxmlformats.org/officeDocument/2006/relationships/notesMaster" Target="/ppt/notesMasters/notesMaster1.xml" Id="R463a53ce7af241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9391fb415248e1" /><Relationship Type="http://schemas.openxmlformats.org/officeDocument/2006/relationships/notesMaster" Target="/ppt/notesMasters/notesMaster1.xml" Id="Ra1d073e16c504b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5764086d37474a" /><Relationship Type="http://schemas.openxmlformats.org/officeDocument/2006/relationships/notesMaster" Target="/ppt/notesMasters/notesMaster1.xml" Id="R5a0374b2a7224e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b2f65d314c45b1" /><Relationship Type="http://schemas.openxmlformats.org/officeDocument/2006/relationships/notesMaster" Target="/ppt/notesMasters/notesMaster1.xml" Id="Ra8831c74e3e041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98623147f44991" /><Relationship Type="http://schemas.openxmlformats.org/officeDocument/2006/relationships/notesMaster" Target="/ppt/notesMasters/notesMaster1.xml" Id="R0656c34ce87145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5493b95e014791" /><Relationship Type="http://schemas.openxmlformats.org/officeDocument/2006/relationships/notesMaster" Target="/ppt/notesMasters/notesMaster1.xml" Id="Rca4a53e339f74e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faf73301cd450f" /><Relationship Type="http://schemas.openxmlformats.org/officeDocument/2006/relationships/notesMaster" Target="/ppt/notesMasters/notesMaster1.xml" Id="R223dbc5a70c24f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30 секунд.</a:t>
            </a:r>
          </a:p>
          <a:p xmlns:a="http://schemas.openxmlformats.org/drawingml/2006/main">
            <a:r>
              <a:t/>
            </a:r>
          </a:p>
          <a:p xmlns:a="http://schemas.openxmlformats.org/drawingml/2006/main">
            <a:r>
              <a:t>Уявімо звичайну командну зустріч. Ми домовилися про рішення в чаті, описали його в документі, а задачу створили в іншому сервісі. Коли повертаємося до роботи, доводиться відновлювати причини та шукати посилання. VIDA задумана як простір, у якому цей контекст зберігається разом із дією. Сьогодні я запрошую розробників допомогти перевірити та реалізувати цю ідею.</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VIDA розділяє особистий і спільний простір. Людина обирає, що зберігає для себе, а що відкриває команді. Local-first означає, що доступні дані та локальна робота не залежать від постійного з’єднання. Подальший обмін потребує доступного авторизованого вузла. Ми не обіцяємо, що будь-яка серверна дія доступна офлайн. Ця модель є цільовим дизайном продукту, а не заявою про готовий реліз.</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40 секунд.</a:t>
            </a:r>
          </a:p>
          <a:p xmlns:a="http://schemas.openxmlformats.org/drawingml/2006/main">
            <a:r>
              <a:t/>
            </a:r>
          </a:p>
          <a:p xmlns:a="http://schemas.openxmlformats.org/drawingml/2006/main">
            <a:r>
              <a:t>Покажу короткий сценарій. У чаті є повідомлення про підготовку зустрічі. Натискаємо збереження рішення й відкриваємо нотатку. З неї переходимо до задачі та позначаємо виконання. Посилання назад зберігає контекст. На сайті це три кроки з підказками й перезапуском. Це інтерфейсний концепт: він не надсилає повідомлень у мережу й не демонструє реалізовану синхронізацію VIDA. Він допомагає перевірити, чи зрозумілий людям сам сценарій.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Архітектура відокремлює інтерфейс від правил. Flutter показує екрани, Rust core визначає ресурси, команди та права, runtime керує інфраструктурою. Iroh створює захищений транспортний канал. Він не вирішує, хто може редагувати документ чи підтверджувати запис до бізнесу. У цільовій native-політиці VIDA прямий шлях пріоритетний, relay допомагає зі зв’язком. Relay не зберігає повідомлення для офлайн-адресата. Локальне збереження, доставка та доменне прийняття мають окремі підтвердження. Реалізаційні деталі перевіряємо прототипами.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Застосунки поєднують стандартні можливості з власними ресурсами та процесами. CRM використовує контакт і розмову, але додає бізнесові поля. ОСББ додає заявки й погодження. Сервіс запису потребує власної логіки доступності. Окрема міська платформа може мати новинний сайт, backend і свій App у VIDA. Маркетплейс та зовнішні джерела поширюють пакети. Підключення пакета саме по собі не надає доступу до приватних даних. Бізнесові сценарії заплановані та потребують окремих специфікацій.</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45 секунд.</a:t>
            </a:r>
          </a:p>
          <a:p xmlns:a="http://schemas.openxmlformats.org/drawingml/2006/main">
            <a:r>
              <a:t/>
            </a:r>
          </a:p>
          <a:p xmlns:a="http://schemas.openxmlformats.org/drawingml/2006/main">
            <a:r>
              <a:t>Ресерч за вересень показує збільшення нашого каталогу від 54 до приблизно 102 окремих URL репозиторіїв. Це приблизно 48 нових записів за доступне вікно від 18 до 29 вересня. У найновішому доповненні п’ять URL: Walkie, FarSail, Portal, ahole та ErisAuth. Теми охоплюють агентні середовища, віддалений доступ, файли й авторизацію. Це показує широту знайдених застосувань. Ми не називаємо всі ці проєкти створеними за місяць: частина має давнішу історію, а повної бази за останні 30 днів немає. Розширення нашого огляду не є виміром зростання всієї екосистеми.</a:t>
            </a:r>
          </a:p>
          <a:p xmlns:a="http://schemas.openxmlformats.org/drawingml/2006/main">
            <a:r>
              <a:t/>
            </a:r>
          </a:p>
          <a:p xmlns:a="http://schemas.openxmlformats.org/drawingml/2006/main">
            <a:r>
              <a:t>Джерела: research/iroh-local-first-research-index-2026-09-18.md, вступ, актуалізація 29.09.2026; research/iroh-reference-projects-update-2026-09-29.md. Опублікована методика: https://vida-project.pomazan-bogdan.chatgpt.site/reference/iroh-research-september.md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Реалізовано. Презентаційний сайт. Навігація та інтерактивні пояснення працюють у браузері. Це результат сайту, не реліз VIDA. Прототип. Розмова, нотатка, задача. Інтерактивний концепт демонструє зв’язок контексту. Дані існують лише на сторінці. Заплановано. Продукт і застосунки. Базовий набір VIDA, клієнти Flutter та бізнес-застосунки. Дату публічного релізу не оголошено. Відкрите рішення. Реалізаційні перевірки. Редактор і CRDT, browser transport, media/E2EE та деталі форматів потребують перевірки. Архітектурні межі описані в документації. Наявність такого опису не означає, що всі компоненти вже працюють у продукті. Ця межа важлива для чесного запрошення до розробки.</a:t>
            </a:r>
          </a:p>
          <a:p xmlns:a="http://schemas.openxmlformats.org/drawingml/2006/main">
            <a:r>
              <a:t/>
            </a:r>
          </a:p>
          <a:p xmlns:a="http://schemas.openxmlformats.org/drawingml/2006/main">
            <a:r>
              <a:t>Джерела: Концепція VIDA та технічні матеріали сайту https://vida-project.pomazan-bogdan.chatgpt.site/#technical-details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Тривалість: 35 секунд.</a:t>
            </a:r>
          </a:p>
          <a:p xmlns:a="http://schemas.openxmlformats.org/drawingml/2006/main">
            <a:r>
              <a:t/>
            </a:r>
          </a:p>
          <a:p xmlns:a="http://schemas.openxmlformats.org/drawingml/2006/main">
            <a:r>
              <a:t>Запрошуємо людей із Rust, Flutter, тестування, UX і документації. Найкращий початок — невелика зрозуміла ділянка, погоджена з супроводжувачем. Наприклад, сценарій конфлікту, пояснення SDK або перевірка зрозумілості статусів. Це запропоновані напрями, а не готові призначення. На 29 вересня відкритих issues із міткою good first issue не знайдено. Тому сайт веде до актуального репозиторію. Приєднуйтеся, щоб перетворити описані контракти на перевірену реалізацію.</a:t>
            </a:r>
          </a:p>
          <a:p xmlns:a="http://schemas.openxmlformats.org/drawingml/2006/main">
            <a:r>
              <a:t/>
            </a:r>
          </a:p>
          <a:p xmlns:a="http://schemas.openxmlformats.org/drawingml/2006/main">
            <a:r>
              <a:t>Джерела: https://github.com/pomazanbohdan/vida; GitHub issue search repo:pomazanbohdan/vida is:issue is:open label:"good first issue", 29.09.2026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4786305ba4c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35e477941a4713" /><Relationship Type="http://schemas.openxmlformats.org/officeDocument/2006/relationships/slideLayout" Target="/ppt/slideLayouts/slideLayout1.xml" Id="R695dd6cde8bf4e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5dd6cde8bf4e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51657286224b90" /><Relationship Type="http://schemas.openxmlformats.org/officeDocument/2006/relationships/notesSlide" Target="/ppt/notesSlides/notesSlide1.xml" Id="R41a0d69bc7c143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b84729622c4363" /><Relationship Type="http://schemas.openxmlformats.org/officeDocument/2006/relationships/image" Target="/ppt/media/image.png" Id="Rd034ede3242e45a6" /><Relationship Type="http://schemas.openxmlformats.org/officeDocument/2006/relationships/notesSlide" Target="/ppt/notesSlides/notesSlide2.xml" Id="R943affd5d11e4e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da4e4eba4e4883" /><Relationship Type="http://schemas.openxmlformats.org/officeDocument/2006/relationships/notesSlide" Target="/ppt/notesSlides/notesSlide3.xml" Id="R3ba3c550de9540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34a4a886b34e41" /><Relationship Type="http://schemas.openxmlformats.org/officeDocument/2006/relationships/notesSlide" Target="/ppt/notesSlides/notesSlide4.xml" Id="R583338a871a641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de7dd033a74658" /><Relationship Type="http://schemas.openxmlformats.org/officeDocument/2006/relationships/notesSlide" Target="/ppt/notesSlides/notesSlide5.xml" Id="Rf14fc46ab86540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3b047a90314bad" /><Relationship Type="http://schemas.openxmlformats.org/officeDocument/2006/relationships/chart" Target="/ppt/slides/charts/chart1.xml" Id="R4ca5d184c10f44e0" /><Relationship Type="http://schemas.openxmlformats.org/officeDocument/2006/relationships/notesSlide" Target="/ppt/notesSlides/notesSlide6.xml" Id="R4ad28f5c4125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4b16a22ab14f55" /><Relationship Type="http://schemas.openxmlformats.org/officeDocument/2006/relationships/notesSlide" Target="/ppt/notesSlides/notesSlide7.xml" Id="Rba7a4f70f83140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9d4a13b3b1400d" /><Relationship Type="http://schemas.openxmlformats.org/officeDocument/2006/relationships/notesSlide" Target="/ppt/notesSlides/notesSlide8.xml" Id="R91b4cd30a5e34ac2" /></Relationships>
</file>

<file path=ppt/slides/charts/chart1.xml><?xml version="1.0" encoding="utf-8"?>
<c:chartSpace xmlns:c="http://schemas.openxmlformats.org/drawingml/2006/chart">
  <c:lang val="en-US"/>
  <c:chart>
    <c:plotArea>
      <c:barChart>
        <c:barDir val="col"/>
        <c:grouping val="clustered"/>
        <c:varyColors val="0"/>
        <c:ser>
          <c:idx val="0"/>
          <c:order val="0"/>
          <c:tx>
            <c:v>URL у каталозі</c:v>
          </c:tx>
          <c:spPr>
            <a:solidFill xmlns:a="http://schemas.openxmlformats.org/drawingml/2006/main">
              <a:srgbClr val="A74E36"/>
            </a:solidFill>
          </c:spPr>
          <c:cat>
            <c:numLit>
              <c:formatCode>General</c:formatCode>
              <c:ptCount val="8"/>
              <c:pt idx="0">
                <c:v>18.09</c:v>
              </c:pt>
              <c:pt idx="1">
                <c:v>21.09</c:v>
              </c:pt>
              <c:pt idx="2">
                <c:v>22.09</c:v>
              </c:pt>
              <c:pt idx="3">
                <c:v>23.09</c:v>
              </c:pt>
              <c:pt idx="4">
                <c:v>24.09</c:v>
              </c:pt>
              <c:pt idx="5">
                <c:v>25.09</c:v>
              </c:pt>
              <c:pt idx="6">
                <c:v>27.09</c:v>
              </c:pt>
              <c:pt idx="7">
                <c:v>29.09</c:v>
              </c:pt>
            </c:numLit>
          </c:cat>
          <c:val>
            <c:numLit>
              <c:formatCode>General</c:formatCode>
              <c:ptCount val="8"/>
              <c:pt idx="0">
                <c:v>54</c:v>
              </c:pt>
              <c:pt idx="1">
                <c:v>74</c:v>
              </c:pt>
              <c:pt idx="2">
                <c:v>78</c:v>
              </c:pt>
              <c:pt idx="3">
                <c:v>85</c:v>
              </c:pt>
              <c:pt idx="4">
                <c:v>88</c:v>
              </c:pt>
              <c:pt idx="5">
                <c:v>91</c:v>
              </c:pt>
              <c:pt idx="6">
                <c:v>97</c:v>
              </c:pt>
              <c:pt idx="7">
                <c:v>102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45E164-3A52-4E1B-A7EE-815918B35727}"/>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Контекст губиться між інструментами</a:t>
            </a:r>
          </a:p>
        </p:txBody>
      </p:sp>
      <p:sp>
        <p:nvSpPr>
          <p:cNvPr id="2" name="">
            <a:extLst xmlns:a="http://schemas.openxmlformats.org/drawingml/2006/main">
              <a:ext uri="{FF2B5EF4-FFF2-40B4-BE49-F238E27FC236}">
                <a16:creationId xmlns:a16="http://schemas.microsoft.com/office/drawing/2014/main" id="{1916D8E9-8680-49A5-83EE-DCE385F62B85}"/>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1 з 8</a:t>
            </a:r>
          </a:p>
        </p:txBody>
      </p:sp>
      <p:sp>
        <p:nvSpPr>
          <p:cNvPr id="3" name="">
            <a:extLst xmlns:a="http://schemas.openxmlformats.org/drawingml/2006/main">
              <a:ext uri="{FF2B5EF4-FFF2-40B4-BE49-F238E27FC236}">
                <a16:creationId xmlns:a16="http://schemas.microsoft.com/office/drawing/2014/main" id="{7080243C-33D5-4039-A377-D423349E3D3C}"/>
              </a:ext>
            </a:extLst>
          </p:cNvPr>
          <p:cNvSpPr>
            <a:spLocks xmlns:a="http://schemas.openxmlformats.org/drawingml/2006/main" noGrp="1"/>
          </p:cNvSpPr>
          <p:nvPr/>
        </p:nvSpPr>
        <p:spPr>
          <a:xfrm xmlns:a="http://schemas.openxmlformats.org/drawingml/2006/main">
            <a:off x="666750" y="2190750"/>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Розмова залишається в чаті.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Рішення живе в окремій нотатці.</a:t>
            </a:r>
          </a:p>
          <a:p xmlns:a="http://schemas.openxmlformats.org/drawingml/2006/main">
            <a:pPr>
              <a:defRPr sz="2775" b="0">
                <a:solidFill>
                  <a:srgbClr val="19202E"/>
                </a:solidFill>
                <a:latin typeface="Arial"/>
                <a:ea typeface="Arial"/>
                <a:cs typeface="Arial"/>
              </a:defRPr>
            </a:pPr>
            <a:r>
              <a:rPr sz="2775" b="0">
                <a:solidFill>
                  <a:srgbClr val="19202E"/>
                </a:solidFill>
                <a:latin typeface="Arial"/>
                <a:ea typeface="Arial"/>
                <a:cs typeface="Arial"/>
              </a:rPr>
              <a:t>Задача втрачає пояснення.</a:t>
            </a:r>
          </a:p>
        </p:txBody>
      </p:sp>
      <p:sp>
        <p:nvSpPr>
          <p:cNvPr id="4" name="">
            <a:extLst xmlns:a="http://schemas.openxmlformats.org/drawingml/2006/main">
              <a:ext uri="{FF2B5EF4-FFF2-40B4-BE49-F238E27FC236}">
                <a16:creationId xmlns:a16="http://schemas.microsoft.com/office/drawing/2014/main" id="{EBF8B16E-4E33-404B-BDF2-BC48A35E98B5}"/>
              </a:ext>
            </a:extLst>
          </p:cNvPr>
          <p:cNvSpPr>
            <a:spLocks xmlns:a="http://schemas.openxmlformats.org/drawingml/2006/main" noGrp="1"/>
          </p:cNvSpPr>
          <p:nvPr/>
        </p:nvSpPr>
        <p:spPr>
          <a:xfrm xmlns:a="http://schemas.openxmlformats.org/drawingml/2006/main">
            <a:off x="666750" y="476250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VIDA пов’язує ці кроки</a:t>
            </a:r>
          </a:p>
          <a:p xmlns:a="http://schemas.openxmlformats.org/drawingml/2006/main">
            <a:pPr>
              <a:defRPr sz="2700" b="1">
                <a:solidFill>
                  <a:srgbClr val="A74E36"/>
                </a:solidFill>
                <a:latin typeface="Arial"/>
                <a:ea typeface="Arial"/>
                <a:cs typeface="Arial"/>
              </a:defRPr>
            </a:pPr>
            <a:r>
              <a:rPr sz="2700" b="1">
                <a:solidFill>
                  <a:srgbClr val="A74E36"/>
                </a:solidFill>
                <a:latin typeface="Arial"/>
                <a:ea typeface="Arial"/>
                <a:cs typeface="Arial"/>
              </a:rPr>
              <a:t>в одному просторі.</a:t>
            </a:r>
          </a:p>
        </p:txBody>
      </p:sp>
    </p:spTree>
    <p:extLst>
      <p:ext uri="{BB962C8B-B14F-4D97-AF65-F5344CB8AC3E}">
        <p14:creationId xmlns:p14="http://schemas.microsoft.com/office/powerpoint/2010/main" val="1226069193"/>
      </p:ext>
    </p:extLst>
  </p:cSld>
</p:sld>
</file>

<file path=ppt/slides/slide2.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901FC4-D820-44CF-AB6B-70A5FB7C9184}"/>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Особистий і спільний простір</a:t>
            </a:r>
          </a:p>
        </p:txBody>
      </p:sp>
      <p:sp>
        <p:nvSpPr>
          <p:cNvPr id="2" name="">
            <a:extLst xmlns:a="http://schemas.openxmlformats.org/drawingml/2006/main">
              <a:ext uri="{FF2B5EF4-FFF2-40B4-BE49-F238E27FC236}">
                <a16:creationId xmlns:a16="http://schemas.microsoft.com/office/drawing/2014/main" id="{A629F1E0-1296-41D7-9D6D-9CE6478FF421}"/>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2 з 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34ede3242e45a6"/>
          <a:stretch xmlns:a="http://schemas.openxmlformats.org/drawingml/2006/main"/>
        </p:blipFill>
        <p:spPr>
          <a:xfrm xmlns:a="http://schemas.openxmlformats.org/drawingml/2006/main">
            <a:off x="7620000" y="1905000"/>
            <a:ext cx="34290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B3DF44F-1CD8-4CA7-A956-8D1D45EFFB64}"/>
              </a:ext>
            </a:extLst>
          </p:cNvPr>
          <p:cNvSpPr>
            <a:spLocks xmlns:a="http://schemas.openxmlformats.org/drawingml/2006/main" noGrp="1"/>
          </p:cNvSpPr>
          <p:nvPr/>
        </p:nvSpPr>
        <p:spPr>
          <a:xfrm xmlns:a="http://schemas.openxmlformats.org/drawingml/2006/main">
            <a:off x="666750" y="200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A74E36"/>
                </a:solidFill>
                <a:latin typeface="Arial"/>
                <a:ea typeface="Arial"/>
                <a:cs typeface="Arial"/>
              </a:defRPr>
            </a:pPr>
            <a:r>
              <a:rPr sz="2625" b="1">
                <a:solidFill>
                  <a:srgbClr val="A74E36"/>
                </a:solidFill>
                <a:latin typeface="Arial"/>
                <a:ea typeface="Arial"/>
                <a:cs typeface="Arial"/>
              </a:rPr>
              <a:t>Локальні дані на пристрої</a:t>
            </a:r>
          </a:p>
        </p:txBody>
      </p:sp>
      <p:sp>
        <p:nvSpPr>
          <p:cNvPr id="5" name="">
            <a:extLst xmlns:a="http://schemas.openxmlformats.org/drawingml/2006/main">
              <a:ext uri="{FF2B5EF4-FFF2-40B4-BE49-F238E27FC236}">
                <a16:creationId xmlns:a16="http://schemas.microsoft.com/office/drawing/2014/main" id="{2DAFA109-A08B-4B71-8349-679BC4D4A05C}"/>
              </a:ext>
            </a:extLst>
          </p:cNvPr>
          <p:cNvSpPr>
            <a:spLocks xmlns:a="http://schemas.openxmlformats.org/drawingml/2006/main" noGrp="1"/>
          </p:cNvSpPr>
          <p:nvPr/>
        </p:nvSpPr>
        <p:spPr>
          <a:xfrm xmlns:a="http://schemas.openxmlformats.org/drawingml/2006/main">
            <a:off x="666750" y="2905125"/>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Personal Space для власних матеріалів.</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Shared Space для спільної роботи.</a:t>
            </a:r>
          </a:p>
          <a:p xmlns:a="http://schemas.openxmlformats.org/drawingml/2006/main">
            <a:pPr>
              <a:defRPr sz="2250" b="0">
                <a:solidFill>
                  <a:srgbClr val="19202E"/>
                </a:solidFill>
                <a:latin typeface="Arial"/>
                <a:ea typeface="Arial"/>
                <a:cs typeface="Arial"/>
              </a:defRPr>
            </a:pPr>
            <a:r>
              <a:rPr sz="2250" b="0">
                <a:solidFill>
                  <a:srgbClr val="19202E"/>
                </a:solidFill>
                <a:latin typeface="Arial"/>
                <a:ea typeface="Arial"/>
                <a:cs typeface="Arial"/>
              </a:rPr>
              <a:t>Доступ до ресурсів за явними правами.</a:t>
            </a:r>
          </a:p>
        </p:txBody>
      </p:sp>
      <p:sp>
        <p:nvSpPr>
          <p:cNvPr id="6" name="">
            <a:extLst xmlns:a="http://schemas.openxmlformats.org/drawingml/2006/main">
              <a:ext uri="{FF2B5EF4-FFF2-40B4-BE49-F238E27FC236}">
                <a16:creationId xmlns:a16="http://schemas.microsoft.com/office/drawing/2014/main" id="{263E09EF-4DCF-4E55-8C12-0F135007C155}"/>
              </a:ext>
            </a:extLst>
          </p:cNvPr>
          <p:cNvSpPr>
            <a:spLocks xmlns:a="http://schemas.openxmlformats.org/drawingml/2006/main" noGrp="1"/>
          </p:cNvSpPr>
          <p:nvPr/>
        </p:nvSpPr>
        <p:spPr>
          <a:xfrm xmlns:a="http://schemas.openxmlformats.org/drawingml/2006/main">
            <a:off x="666750" y="54768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Заплановано. Публічний реліз ще попереду.</a:t>
            </a:r>
          </a:p>
        </p:txBody>
      </p:sp>
    </p:spTree>
    <p:extLst>
      <p:ext uri="{BB962C8B-B14F-4D97-AF65-F5344CB8AC3E}">
        <p14:creationId xmlns:p14="http://schemas.microsoft.com/office/powerpoint/2010/main" val="673149907"/>
      </p:ext>
    </p:extLst>
  </p:cSld>
</p:sld>
</file>

<file path=ppt/slides/slide3.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D51DDF-EEF5-4213-93F2-EB90754F121C}"/>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Розмова, нотатка, задача</a:t>
            </a:r>
          </a:p>
        </p:txBody>
      </p:sp>
      <p:sp>
        <p:nvSpPr>
          <p:cNvPr id="2" name="">
            <a:extLst xmlns:a="http://schemas.openxmlformats.org/drawingml/2006/main">
              <a:ext uri="{FF2B5EF4-FFF2-40B4-BE49-F238E27FC236}">
                <a16:creationId xmlns:a16="http://schemas.microsoft.com/office/drawing/2014/main" id="{77429CAC-6749-493F-9D05-7728E4F7F5C9}"/>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3 з 8</a:t>
            </a:r>
          </a:p>
        </p:txBody>
      </p:sp>
      <p:sp>
        <p:nvSpPr>
          <p:cNvPr id="3" name="">
            <a:extLst xmlns:a="http://schemas.openxmlformats.org/drawingml/2006/main">
              <a:ext uri="{FF2B5EF4-FFF2-40B4-BE49-F238E27FC236}">
                <a16:creationId xmlns:a16="http://schemas.microsoft.com/office/drawing/2014/main" id="{0F6F66AA-21BF-4A3A-B071-3094BD4024D7}"/>
              </a:ext>
            </a:extLst>
          </p:cNvPr>
          <p:cNvSpPr>
            <a:spLocks xmlns:a="http://schemas.openxmlformats.org/drawingml/2006/main" noGrp="1"/>
          </p:cNvSpPr>
          <p:nvPr/>
        </p:nvSpPr>
        <p:spPr>
          <a:xfrm xmlns:a="http://schemas.openxmlformats.org/drawingml/2006/main">
            <a:off x="666750"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01  Розмова</a:t>
            </a:r>
          </a:p>
        </p:txBody>
      </p:sp>
      <p:sp>
        <p:nvSpPr>
          <p:cNvPr id="4" name="">
            <a:extLst xmlns:a="http://schemas.openxmlformats.org/drawingml/2006/main">
              <a:ext uri="{FF2B5EF4-FFF2-40B4-BE49-F238E27FC236}">
                <a16:creationId xmlns:a16="http://schemas.microsoft.com/office/drawing/2014/main" id="{DA7F6B24-98BB-4DA7-8C59-95C8E5AD0662}"/>
              </a:ext>
            </a:extLst>
          </p:cNvPr>
          <p:cNvSpPr>
            <a:spLocks xmlns:a="http://schemas.openxmlformats.org/drawingml/2006/main" noGrp="1"/>
          </p:cNvSpPr>
          <p:nvPr/>
        </p:nvSpPr>
        <p:spPr>
          <a:xfrm xmlns:a="http://schemas.openxmlformats.org/drawingml/2006/main">
            <a:off x="66675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Команда обговорює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наступну зустріч.</a:t>
            </a:r>
          </a:p>
        </p:txBody>
      </p:sp>
      <p:sp>
        <p:nvSpPr>
          <p:cNvPr id="5" name="">
            <a:extLst xmlns:a="http://schemas.openxmlformats.org/drawingml/2006/main">
              <a:ext uri="{FF2B5EF4-FFF2-40B4-BE49-F238E27FC236}">
                <a16:creationId xmlns:a16="http://schemas.microsoft.com/office/drawing/2014/main" id="{5199E5F7-168E-4FB9-8865-401CA48806A4}"/>
              </a:ext>
            </a:extLst>
          </p:cNvPr>
          <p:cNvSpPr>
            <a:spLocks xmlns:a="http://schemas.openxmlformats.org/drawingml/2006/main" noGrp="1"/>
          </p:cNvSpPr>
          <p:nvPr/>
        </p:nvSpPr>
        <p:spPr>
          <a:xfrm xmlns:a="http://schemas.openxmlformats.org/drawingml/2006/main">
            <a:off x="4429125" y="20002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02  Нотатка</a:t>
            </a:r>
          </a:p>
        </p:txBody>
      </p:sp>
      <p:sp>
        <p:nvSpPr>
          <p:cNvPr id="6" name="">
            <a:extLst xmlns:a="http://schemas.openxmlformats.org/drawingml/2006/main">
              <a:ext uri="{FF2B5EF4-FFF2-40B4-BE49-F238E27FC236}">
                <a16:creationId xmlns:a16="http://schemas.microsoft.com/office/drawing/2014/main" id="{CAF7BEDA-DA4C-4D1B-BC2C-84DB4FA10FBF}"/>
              </a:ext>
            </a:extLst>
          </p:cNvPr>
          <p:cNvSpPr>
            <a:spLocks xmlns:a="http://schemas.openxmlformats.org/drawingml/2006/main" noGrp="1"/>
          </p:cNvSpPr>
          <p:nvPr/>
        </p:nvSpPr>
        <p:spPr>
          <a:xfrm xmlns:a="http://schemas.openxmlformats.org/drawingml/2006/main">
            <a:off x="4429125"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Рішення зберігає</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зв’язок із джерелом.</a:t>
            </a:r>
          </a:p>
        </p:txBody>
      </p:sp>
      <p:sp>
        <p:nvSpPr>
          <p:cNvPr id="7" name="">
            <a:extLst xmlns:a="http://schemas.openxmlformats.org/drawingml/2006/main">
              <a:ext uri="{FF2B5EF4-FFF2-40B4-BE49-F238E27FC236}">
                <a16:creationId xmlns:a16="http://schemas.microsoft.com/office/drawing/2014/main" id="{BEE4B376-D558-4CC5-8F05-1C6222FBB441}"/>
              </a:ext>
            </a:extLst>
          </p:cNvPr>
          <p:cNvSpPr>
            <a:spLocks xmlns:a="http://schemas.openxmlformats.org/drawingml/2006/main" noGrp="1"/>
          </p:cNvSpPr>
          <p:nvPr/>
        </p:nvSpPr>
        <p:spPr>
          <a:xfrm xmlns:a="http://schemas.openxmlformats.org/drawingml/2006/main">
            <a:off x="8191500" y="2000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A74E36"/>
                </a:solidFill>
                <a:latin typeface="Arial"/>
                <a:ea typeface="Arial"/>
                <a:cs typeface="Arial"/>
              </a:defRPr>
            </a:pPr>
            <a:r>
              <a:rPr sz="2475" b="1">
                <a:solidFill>
                  <a:srgbClr val="A74E36"/>
                </a:solidFill>
                <a:latin typeface="Arial"/>
                <a:ea typeface="Arial"/>
                <a:cs typeface="Arial"/>
              </a:rPr>
              <a:t>03  Задача</a:t>
            </a:r>
          </a:p>
        </p:txBody>
      </p:sp>
      <p:sp>
        <p:nvSpPr>
          <p:cNvPr id="8" name="">
            <a:extLst xmlns:a="http://schemas.openxmlformats.org/drawingml/2006/main">
              <a:ext uri="{FF2B5EF4-FFF2-40B4-BE49-F238E27FC236}">
                <a16:creationId xmlns:a16="http://schemas.microsoft.com/office/drawing/2014/main" id="{ED4EEC55-CBBC-42C9-B27D-EE17CCF3E86D}"/>
              </a:ext>
            </a:extLst>
          </p:cNvPr>
          <p:cNvSpPr>
            <a:spLocks xmlns:a="http://schemas.openxmlformats.org/drawingml/2006/main" noGrp="1"/>
          </p:cNvSpPr>
          <p:nvPr/>
        </p:nvSpPr>
        <p:spPr>
          <a:xfrm xmlns:a="http://schemas.openxmlformats.org/drawingml/2006/main">
            <a:off x="8191500" y="28098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Виконавець бачить</a:t>
            </a:r>
          </a:p>
          <a:p xmlns:a="http://schemas.openxmlformats.org/drawingml/2006/main">
            <a:pPr>
              <a:defRPr sz="2100" b="0">
                <a:solidFill>
                  <a:srgbClr val="19202E"/>
                </a:solidFill>
                <a:latin typeface="Arial"/>
                <a:ea typeface="Arial"/>
                <a:cs typeface="Arial"/>
              </a:defRPr>
            </a:pPr>
            <a:r>
              <a:rPr sz="2100" b="0">
                <a:solidFill>
                  <a:srgbClr val="19202E"/>
                </a:solidFill>
                <a:latin typeface="Arial"/>
                <a:ea typeface="Arial"/>
                <a:cs typeface="Arial"/>
              </a:rPr>
              <a:t>контекст роботи.</a:t>
            </a:r>
          </a:p>
        </p:txBody>
      </p:sp>
      <p:sp>
        <p:nvSpPr>
          <p:cNvPr id="9" name="">
            <a:extLst xmlns:a="http://schemas.openxmlformats.org/drawingml/2006/main">
              <a:ext uri="{FF2B5EF4-FFF2-40B4-BE49-F238E27FC236}">
                <a16:creationId xmlns:a16="http://schemas.microsoft.com/office/drawing/2014/main" id="{D4F31EBF-8E76-4D52-981C-02C673C173C5}"/>
              </a:ext>
            </a:extLst>
          </p:cNvPr>
          <p:cNvSpPr>
            <a:spLocks xmlns:a="http://schemas.openxmlformats.org/drawingml/2006/main" noGrp="1"/>
          </p:cNvSpPr>
          <p:nvPr/>
        </p:nvSpPr>
        <p:spPr>
          <a:xfrm xmlns:a="http://schemas.openxmlformats.org/drawingml/2006/main">
            <a:off x="666750" y="4667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74E36"/>
                </a:solidFill>
                <a:latin typeface="Arial"/>
                <a:ea typeface="Arial"/>
                <a:cs typeface="Arial"/>
              </a:defRPr>
            </a:pPr>
            <a:r>
              <a:rPr sz="2325" b="1">
                <a:solidFill>
                  <a:srgbClr val="A74E36"/>
                </a:solidFill>
                <a:latin typeface="Arial"/>
                <a:ea typeface="Arial"/>
                <a:cs typeface="Arial"/>
              </a:rPr>
              <a:t>Прототип: інтерактивний концепт на сайті</a:t>
            </a:r>
          </a:p>
        </p:txBody>
      </p:sp>
      <p:sp>
        <p:nvSpPr>
          <p:cNvPr id="10" name="">
            <a:extLst xmlns:a="http://schemas.openxmlformats.org/drawingml/2006/main">
              <a:ext uri="{FF2B5EF4-FFF2-40B4-BE49-F238E27FC236}">
                <a16:creationId xmlns:a16="http://schemas.microsoft.com/office/drawing/2014/main" id="{12F71D91-6A89-4EC5-9822-55428D80E536}"/>
              </a:ext>
            </a:extLst>
          </p:cNvPr>
          <p:cNvSpPr>
            <a:spLocks xmlns:a="http://schemas.openxmlformats.org/drawingml/2006/main" noGrp="1"/>
          </p:cNvSpPr>
          <p:nvPr/>
        </p:nvSpPr>
        <p:spPr>
          <a:xfrm xmlns:a="http://schemas.openxmlformats.org/drawingml/2006/main">
            <a:off x="666750" y="5381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E656E"/>
                </a:solidFill>
                <a:latin typeface="Arial"/>
                <a:ea typeface="Arial"/>
                <a:cs typeface="Arial"/>
              </a:defRPr>
            </a:pPr>
            <a:r>
              <a:rPr sz="1725" b="0">
                <a:solidFill>
                  <a:srgbClr val="5E656E"/>
                </a:solidFill>
                <a:latin typeface="Arial"/>
                <a:ea typeface="Arial"/>
                <a:cs typeface="Arial"/>
              </a:rPr>
              <a:t>Три кроки з підказками та перезапуском. Дані існують лише на сторінці.</a:t>
            </a:r>
          </a:p>
        </p:txBody>
      </p:sp>
    </p:spTree>
    <p:extLst>
      <p:ext uri="{BB962C8B-B14F-4D97-AF65-F5344CB8AC3E}">
        <p14:creationId xmlns:p14="http://schemas.microsoft.com/office/powerpoint/2010/main" val="800436381"/>
      </p:ext>
    </p:extLst>
  </p:cSld>
</p:sld>
</file>

<file path=ppt/slides/slide4.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BEAF51-D019-473E-A7A5-1F8DD86B4C0D}"/>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Спільне ядро та транспорт</a:t>
            </a:r>
          </a:p>
        </p:txBody>
      </p:sp>
      <p:sp>
        <p:nvSpPr>
          <p:cNvPr id="2" name="">
            <a:extLst xmlns:a="http://schemas.openxmlformats.org/drawingml/2006/main">
              <a:ext uri="{FF2B5EF4-FFF2-40B4-BE49-F238E27FC236}">
                <a16:creationId xmlns:a16="http://schemas.microsoft.com/office/drawing/2014/main" id="{160E5FBC-D36A-4108-BBB8-709D856579AD}"/>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4 з 8</a:t>
            </a:r>
          </a:p>
        </p:txBody>
      </p:sp>
      <p:sp>
        <p:nvSpPr>
          <p:cNvPr id="3" name="">
            <a:extLst xmlns:a="http://schemas.openxmlformats.org/drawingml/2006/main">
              <a:ext uri="{FF2B5EF4-FFF2-40B4-BE49-F238E27FC236}">
                <a16:creationId xmlns:a16="http://schemas.microsoft.com/office/drawing/2014/main" id="{765644A4-5186-4665-9C63-6F34E7993A92}"/>
              </a:ext>
            </a:extLst>
          </p:cNvPr>
          <p:cNvSpPr>
            <a:spLocks xmlns:a="http://schemas.openxmlformats.org/drawingml/2006/main" noGrp="1"/>
          </p:cNvSpPr>
          <p:nvPr/>
        </p:nvSpPr>
        <p:spPr>
          <a:xfrm xmlns:a="http://schemas.openxmlformats.org/drawingml/2006/main">
            <a:off x="666750" y="2047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Flutter</a:t>
            </a:r>
          </a:p>
        </p:txBody>
      </p:sp>
      <p:sp>
        <p:nvSpPr>
          <p:cNvPr id="4" name="">
            <a:extLst xmlns:a="http://schemas.openxmlformats.org/drawingml/2006/main">
              <a:ext uri="{FF2B5EF4-FFF2-40B4-BE49-F238E27FC236}">
                <a16:creationId xmlns:a16="http://schemas.microsoft.com/office/drawing/2014/main" id="{63590DCF-D3C1-42F4-A3CC-3C1FA7732436}"/>
              </a:ext>
            </a:extLst>
          </p:cNvPr>
          <p:cNvSpPr>
            <a:spLocks xmlns:a="http://schemas.openxmlformats.org/drawingml/2006/main" noGrp="1"/>
          </p:cNvSpPr>
          <p:nvPr/>
        </p:nvSpPr>
        <p:spPr>
          <a:xfrm xmlns:a="http://schemas.openxmlformats.org/drawingml/2006/main">
            <a:off x="666750" y="276225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Інтерфейси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та поведінка екранів</a:t>
            </a:r>
          </a:p>
        </p:txBody>
      </p:sp>
      <p:sp>
        <p:nvSpPr>
          <p:cNvPr id="5" name="">
            <a:extLst xmlns:a="http://schemas.openxmlformats.org/drawingml/2006/main">
              <a:ext uri="{FF2B5EF4-FFF2-40B4-BE49-F238E27FC236}">
                <a16:creationId xmlns:a16="http://schemas.microsoft.com/office/drawing/2014/main" id="{33F7DFA2-B5C1-42B5-9BD8-11771D94664C}"/>
              </a:ext>
            </a:extLst>
          </p:cNvPr>
          <p:cNvSpPr>
            <a:spLocks xmlns:a="http://schemas.openxmlformats.org/drawingml/2006/main" noGrp="1"/>
          </p:cNvSpPr>
          <p:nvPr/>
        </p:nvSpPr>
        <p:spPr>
          <a:xfrm xmlns:a="http://schemas.openxmlformats.org/drawingml/2006/main">
            <a:off x="4524375" y="2047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Rust core</a:t>
            </a:r>
          </a:p>
        </p:txBody>
      </p:sp>
      <p:sp>
        <p:nvSpPr>
          <p:cNvPr id="6" name="">
            <a:extLst xmlns:a="http://schemas.openxmlformats.org/drawingml/2006/main">
              <a:ext uri="{FF2B5EF4-FFF2-40B4-BE49-F238E27FC236}">
                <a16:creationId xmlns:a16="http://schemas.microsoft.com/office/drawing/2014/main" id="{6827CAC0-3C2D-443F-9FB6-C595BEEAA607}"/>
              </a:ext>
            </a:extLst>
          </p:cNvPr>
          <p:cNvSpPr>
            <a:spLocks xmlns:a="http://schemas.openxmlformats.org/drawingml/2006/main" noGrp="1"/>
          </p:cNvSpPr>
          <p:nvPr/>
        </p:nvSpPr>
        <p:spPr>
          <a:xfrm xmlns:a="http://schemas.openxmlformats.org/drawingml/2006/main">
            <a:off x="4524375" y="2762250"/>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Ресурси, команди,</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права та перевірки</a:t>
            </a:r>
          </a:p>
        </p:txBody>
      </p:sp>
      <p:sp>
        <p:nvSpPr>
          <p:cNvPr id="7" name="">
            <a:extLst xmlns:a="http://schemas.openxmlformats.org/drawingml/2006/main">
              <a:ext uri="{FF2B5EF4-FFF2-40B4-BE49-F238E27FC236}">
                <a16:creationId xmlns:a16="http://schemas.microsoft.com/office/drawing/2014/main" id="{AE0CAF47-566B-499C-A529-5E4789268341}"/>
              </a:ext>
            </a:extLst>
          </p:cNvPr>
          <p:cNvSpPr>
            <a:spLocks xmlns:a="http://schemas.openxmlformats.org/drawingml/2006/main" noGrp="1"/>
          </p:cNvSpPr>
          <p:nvPr/>
        </p:nvSpPr>
        <p:spPr>
          <a:xfrm xmlns:a="http://schemas.openxmlformats.org/drawingml/2006/main">
            <a:off x="8477250" y="2047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DCA88F"/>
                </a:solidFill>
                <a:latin typeface="Arial"/>
                <a:ea typeface="Arial"/>
                <a:cs typeface="Arial"/>
              </a:defRPr>
            </a:pPr>
            <a:r>
              <a:rPr sz="3000" b="1">
                <a:solidFill>
                  <a:srgbClr val="DCA88F"/>
                </a:solidFill>
                <a:latin typeface="Arial"/>
                <a:ea typeface="Arial"/>
                <a:cs typeface="Arial"/>
              </a:rPr>
              <a:t>Iroh</a:t>
            </a:r>
          </a:p>
        </p:txBody>
      </p:sp>
      <p:sp>
        <p:nvSpPr>
          <p:cNvPr id="8" name="">
            <a:extLst xmlns:a="http://schemas.openxmlformats.org/drawingml/2006/main">
              <a:ext uri="{FF2B5EF4-FFF2-40B4-BE49-F238E27FC236}">
                <a16:creationId xmlns:a16="http://schemas.microsoft.com/office/drawing/2014/main" id="{7577F152-3468-47EC-8DFF-02ECB8AD5CB9}"/>
              </a:ext>
            </a:extLst>
          </p:cNvPr>
          <p:cNvSpPr>
            <a:spLocks xmlns:a="http://schemas.openxmlformats.org/drawingml/2006/main" noGrp="1"/>
          </p:cNvSpPr>
          <p:nvPr/>
        </p:nvSpPr>
        <p:spPr>
          <a:xfrm xmlns:a="http://schemas.openxmlformats.org/drawingml/2006/main">
            <a:off x="8477250" y="27622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Захищений канал</a:t>
            </a:r>
          </a:p>
          <a:p xmlns:a="http://schemas.openxmlformats.org/drawingml/2006/main">
            <a:pPr>
              <a:defRPr sz="2025" b="0">
                <a:solidFill>
                  <a:srgbClr val="F5F1EE"/>
                </a:solidFill>
                <a:latin typeface="Arial"/>
                <a:ea typeface="Arial"/>
                <a:cs typeface="Arial"/>
              </a:defRPr>
            </a:pPr>
            <a:r>
              <a:rPr sz="2025" b="0">
                <a:solidFill>
                  <a:srgbClr val="F5F1EE"/>
                </a:solidFill>
                <a:latin typeface="Arial"/>
                <a:ea typeface="Arial"/>
                <a:cs typeface="Arial"/>
              </a:rPr>
              <a:t>між пристроями</a:t>
            </a:r>
          </a:p>
        </p:txBody>
      </p:sp>
      <p:sp>
        <p:nvSpPr>
          <p:cNvPr id="9" name="">
            <a:extLst xmlns:a="http://schemas.openxmlformats.org/drawingml/2006/main">
              <a:ext uri="{FF2B5EF4-FFF2-40B4-BE49-F238E27FC236}">
                <a16:creationId xmlns:a16="http://schemas.microsoft.com/office/drawing/2014/main" id="{B93C2CB9-F530-4983-B2C3-41D3353E7F3C}"/>
              </a:ext>
            </a:extLst>
          </p:cNvPr>
          <p:cNvSpPr>
            <a:spLocks xmlns:a="http://schemas.openxmlformats.org/drawingml/2006/main" noGrp="1"/>
          </p:cNvSpPr>
          <p:nvPr/>
        </p:nvSpPr>
        <p:spPr>
          <a:xfrm xmlns:a="http://schemas.openxmlformats.org/drawingml/2006/main">
            <a:off x="666750" y="4667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7F1"/>
                </a:solidFill>
                <a:latin typeface="Arial"/>
                <a:ea typeface="Arial"/>
                <a:cs typeface="Arial"/>
              </a:defRPr>
            </a:pPr>
            <a:r>
              <a:rPr sz="2175" b="0">
                <a:solidFill>
                  <a:srgbClr val="FFF7F1"/>
                </a:solidFill>
                <a:latin typeface="Arial"/>
                <a:ea typeface="Arial"/>
                <a:cs typeface="Arial"/>
              </a:rPr>
              <a:t>Заплановано: локальна операція, перевірка, обмін, підтвердження</a:t>
            </a:r>
          </a:p>
        </p:txBody>
      </p:sp>
      <p:sp>
        <p:nvSpPr>
          <p:cNvPr id="10" name="">
            <a:extLst xmlns:a="http://schemas.openxmlformats.org/drawingml/2006/main">
              <a:ext uri="{FF2B5EF4-FFF2-40B4-BE49-F238E27FC236}">
                <a16:creationId xmlns:a16="http://schemas.microsoft.com/office/drawing/2014/main" id="{6F9E7C83-794C-4AAB-90D8-D77C39A49CDD}"/>
              </a:ext>
            </a:extLst>
          </p:cNvPr>
          <p:cNvSpPr>
            <a:spLocks xmlns:a="http://schemas.openxmlformats.org/drawingml/2006/main" noGrp="1"/>
          </p:cNvSpPr>
          <p:nvPr/>
        </p:nvSpPr>
        <p:spPr>
          <a:xfrm xmlns:a="http://schemas.openxmlformats.org/drawingml/2006/main">
            <a:off x="666750" y="5619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4CFCA"/>
                </a:solidFill>
                <a:latin typeface="Arial"/>
                <a:ea typeface="Arial"/>
                <a:cs typeface="Arial"/>
              </a:defRPr>
            </a:pPr>
            <a:r>
              <a:rPr sz="1725" b="0">
                <a:solidFill>
                  <a:srgbClr val="D4CFCA"/>
                </a:solidFill>
                <a:latin typeface="Arial"/>
                <a:ea typeface="Arial"/>
                <a:cs typeface="Arial"/>
              </a:rPr>
              <a:t>Доставка та доменне прийняття мають окремі докази.</a:t>
            </a:r>
          </a:p>
        </p:txBody>
      </p:sp>
    </p:spTree>
    <p:extLst>
      <p:ext uri="{BB962C8B-B14F-4D97-AF65-F5344CB8AC3E}">
        <p14:creationId xmlns:p14="http://schemas.microsoft.com/office/powerpoint/2010/main" val="625758789"/>
      </p:ext>
    </p:extLst>
  </p:cSld>
</p:sld>
</file>

<file path=ppt/slides/slide5.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EE1F2F-F398-468B-B23B-FD55F06D9E02}"/>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Застосунки на спільній основі</a:t>
            </a:r>
          </a:p>
        </p:txBody>
      </p:sp>
      <p:sp>
        <p:nvSpPr>
          <p:cNvPr id="2" name="">
            <a:extLst xmlns:a="http://schemas.openxmlformats.org/drawingml/2006/main">
              <a:ext uri="{FF2B5EF4-FFF2-40B4-BE49-F238E27FC236}">
                <a16:creationId xmlns:a16="http://schemas.microsoft.com/office/drawing/2014/main" id="{E017F56E-AC4A-4C81-9A5B-CF77A7052C0F}"/>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5 з 8</a:t>
            </a:r>
          </a:p>
        </p:txBody>
      </p:sp>
      <p:sp>
        <p:nvSpPr>
          <p:cNvPr id="3" name="">
            <a:extLst xmlns:a="http://schemas.openxmlformats.org/drawingml/2006/main">
              <a:ext uri="{FF2B5EF4-FFF2-40B4-BE49-F238E27FC236}">
                <a16:creationId xmlns:a16="http://schemas.microsoft.com/office/drawing/2014/main" id="{3857B4D9-8172-4F72-9E9C-C71DB0F81F3F}"/>
              </a:ext>
            </a:extLst>
          </p:cNvPr>
          <p:cNvSpPr>
            <a:spLocks xmlns:a="http://schemas.openxmlformats.org/drawingml/2006/main" noGrp="1"/>
          </p:cNvSpPr>
          <p:nvPr/>
        </p:nvSpPr>
        <p:spPr>
          <a:xfrm xmlns:a="http://schemas.openxmlformats.org/drawingml/2006/main">
            <a:off x="666750" y="1952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Стандартний набір</a:t>
            </a:r>
          </a:p>
        </p:txBody>
      </p:sp>
      <p:sp>
        <p:nvSpPr>
          <p:cNvPr id="4" name="">
            <a:extLst xmlns:a="http://schemas.openxmlformats.org/drawingml/2006/main">
              <a:ext uri="{FF2B5EF4-FFF2-40B4-BE49-F238E27FC236}">
                <a16:creationId xmlns:a16="http://schemas.microsoft.com/office/drawing/2014/main" id="{168BC928-5699-4976-9C7F-C5B0091F0C77}"/>
              </a:ext>
            </a:extLst>
          </p:cNvPr>
          <p:cNvSpPr>
            <a:spLocks xmlns:a="http://schemas.openxmlformats.org/drawingml/2006/main" noGrp="1"/>
          </p:cNvSpPr>
          <p:nvPr/>
        </p:nvSpPr>
        <p:spPr>
          <a:xfrm xmlns:a="http://schemas.openxmlformats.org/drawingml/2006/main">
            <a:off x="666750" y="2762250"/>
            <a:ext cx="5334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Messenger, Notes, Projects</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Календар, контакти та файли Core</a:t>
            </a:r>
          </a:p>
        </p:txBody>
      </p:sp>
      <p:sp>
        <p:nvSpPr>
          <p:cNvPr id="5" name="">
            <a:extLst xmlns:a="http://schemas.openxmlformats.org/drawingml/2006/main">
              <a:ext uri="{FF2B5EF4-FFF2-40B4-BE49-F238E27FC236}">
                <a16:creationId xmlns:a16="http://schemas.microsoft.com/office/drawing/2014/main" id="{1CF921CE-E7B9-4858-A1B2-A31E322B2246}"/>
              </a:ext>
            </a:extLst>
          </p:cNvPr>
          <p:cNvSpPr>
            <a:spLocks xmlns:a="http://schemas.openxmlformats.org/drawingml/2006/main" noGrp="1"/>
          </p:cNvSpPr>
          <p:nvPr/>
        </p:nvSpPr>
        <p:spPr>
          <a:xfrm xmlns:a="http://schemas.openxmlformats.org/drawingml/2006/main">
            <a:off x="6762750" y="195262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74E36"/>
                </a:solidFill>
                <a:latin typeface="Arial"/>
                <a:ea typeface="Arial"/>
                <a:cs typeface="Arial"/>
              </a:defRPr>
            </a:pPr>
            <a:r>
              <a:rPr sz="2550" b="1">
                <a:solidFill>
                  <a:srgbClr val="A74E36"/>
                </a:solidFill>
                <a:latin typeface="Arial"/>
                <a:ea typeface="Arial"/>
                <a:cs typeface="Arial"/>
              </a:rPr>
              <a:t>Власні домени</a:t>
            </a:r>
          </a:p>
        </p:txBody>
      </p:sp>
      <p:sp>
        <p:nvSpPr>
          <p:cNvPr id="6" name="">
            <a:extLst xmlns:a="http://schemas.openxmlformats.org/drawingml/2006/main">
              <a:ext uri="{FF2B5EF4-FFF2-40B4-BE49-F238E27FC236}">
                <a16:creationId xmlns:a16="http://schemas.microsoft.com/office/drawing/2014/main" id="{2B048221-7E01-47AD-805C-3A43FFAF7494}"/>
              </a:ext>
            </a:extLst>
          </p:cNvPr>
          <p:cNvSpPr>
            <a:spLocks xmlns:a="http://schemas.openxmlformats.org/drawingml/2006/main" noGrp="1"/>
          </p:cNvSpPr>
          <p:nvPr/>
        </p:nvSpPr>
        <p:spPr>
          <a:xfrm xmlns:a="http://schemas.openxmlformats.org/drawingml/2006/main">
            <a:off x="6762750" y="2762250"/>
            <a:ext cx="4619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CRM, ОСББ, запис до бізнесу</a:t>
            </a:r>
          </a:p>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City Portal зі своїм App у VIDA</a:t>
            </a:r>
          </a:p>
        </p:txBody>
      </p:sp>
      <p:sp>
        <p:nvSpPr>
          <p:cNvPr id="7" name="">
            <a:extLst xmlns:a="http://schemas.openxmlformats.org/drawingml/2006/main">
              <a:ext uri="{FF2B5EF4-FFF2-40B4-BE49-F238E27FC236}">
                <a16:creationId xmlns:a16="http://schemas.microsoft.com/office/drawing/2014/main" id="{1028BDEB-B765-4A52-BB7E-8132450A8B83}"/>
              </a:ext>
            </a:extLst>
          </p:cNvPr>
          <p:cNvSpPr>
            <a:spLocks xmlns:a="http://schemas.openxmlformats.org/drawingml/2006/main" noGrp="1"/>
          </p:cNvSpPr>
          <p:nvPr/>
        </p:nvSpPr>
        <p:spPr>
          <a:xfrm xmlns:a="http://schemas.openxmlformats.org/drawingml/2006/main">
            <a:off x="666750" y="4810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9202E"/>
                </a:solidFill>
                <a:latin typeface="Arial"/>
                <a:ea typeface="Arial"/>
                <a:cs typeface="Arial"/>
              </a:defRPr>
            </a:pPr>
            <a:r>
              <a:rPr sz="2325" b="0">
                <a:solidFill>
                  <a:srgbClr val="19202E"/>
                </a:solidFill>
                <a:latin typeface="Arial"/>
                <a:ea typeface="Arial"/>
                <a:cs typeface="Arial"/>
              </a:rPr>
              <a:t>Заплановано: пакети через маркетплейс і зовнішні джерела</a:t>
            </a:r>
          </a:p>
        </p:txBody>
      </p:sp>
    </p:spTree>
    <p:extLst>
      <p:ext uri="{BB962C8B-B14F-4D97-AF65-F5344CB8AC3E}">
        <p14:creationId xmlns:p14="http://schemas.microsoft.com/office/powerpoint/2010/main" val="890983295"/>
      </p:ext>
    </p:extLst>
  </p:cSld>
</p:sld>
</file>

<file path=ppt/slides/slide6.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ACBF78-85B9-43C3-9B64-EF899BC73BA2}"/>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Iroh: розширення дослідницького каталогу</a:t>
            </a:r>
          </a:p>
        </p:txBody>
      </p:sp>
      <p:sp>
        <p:nvSpPr>
          <p:cNvPr id="2" name="">
            <a:extLst xmlns:a="http://schemas.openxmlformats.org/drawingml/2006/main">
              <a:ext uri="{FF2B5EF4-FFF2-40B4-BE49-F238E27FC236}">
                <a16:creationId xmlns:a16="http://schemas.microsoft.com/office/drawing/2014/main" id="{D598EB21-9E99-433B-A5E7-CB3940E9DDE7}"/>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6 з 8</a:t>
            </a:r>
          </a:p>
        </p:txBody>
      </p:sp>
      <p:sp>
        <p:nvSpPr>
          <p:cNvPr id="3" name="">
            <a:extLst xmlns:a="http://schemas.openxmlformats.org/drawingml/2006/main">
              <a:ext uri="{FF2B5EF4-FFF2-40B4-BE49-F238E27FC236}">
                <a16:creationId xmlns:a16="http://schemas.microsoft.com/office/drawing/2014/main" id="{215C2990-1F2C-429B-9B65-532E323A105D}"/>
              </a:ext>
            </a:extLst>
          </p:cNvPr>
          <p:cNvSpPr>
            <a:spLocks xmlns:a="http://schemas.openxmlformats.org/drawingml/2006/main" noGrp="1"/>
          </p:cNvSpPr>
          <p:nvPr/>
        </p:nvSpPr>
        <p:spPr>
          <a:xfrm xmlns:a="http://schemas.openxmlformats.org/drawingml/2006/main">
            <a:off x="666750" y="1828800"/>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75" b="1">
                <a:solidFill>
                  <a:srgbClr val="A74E36"/>
                </a:solidFill>
                <a:latin typeface="Arial"/>
                <a:ea typeface="Arial"/>
                <a:cs typeface="Arial"/>
              </a:defRPr>
            </a:pPr>
            <a:r>
              <a:rPr sz="5175" b="1">
                <a:solidFill>
                  <a:srgbClr val="A74E36"/>
                </a:solidFill>
                <a:latin typeface="Arial"/>
                <a:ea typeface="Arial"/>
                <a:cs typeface="Arial"/>
              </a:rPr>
              <a:t>54 → ≈102</a:t>
            </a:r>
          </a:p>
        </p:txBody>
      </p:sp>
      <p:sp>
        <p:nvSpPr>
          <p:cNvPr id="4" name="">
            <a:extLst xmlns:a="http://schemas.openxmlformats.org/drawingml/2006/main">
              <a:ext uri="{FF2B5EF4-FFF2-40B4-BE49-F238E27FC236}">
                <a16:creationId xmlns:a16="http://schemas.microsoft.com/office/drawing/2014/main" id="{88131E6F-9C28-4134-8EEA-3FB79B438BA8}"/>
              </a:ext>
            </a:extLst>
          </p:cNvPr>
          <p:cNvSpPr>
            <a:spLocks xmlns:a="http://schemas.openxmlformats.org/drawingml/2006/main" noGrp="1"/>
          </p:cNvSpPr>
          <p:nvPr/>
        </p:nvSpPr>
        <p:spPr>
          <a:xfrm xmlns:a="http://schemas.openxmlformats.org/drawingml/2006/main">
            <a:off x="666750" y="28765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≈48 доданих URL за 18–29 вересня 2026</a:t>
            </a:r>
          </a:p>
        </p:txBody>
      </p:sp>
      <p:graphicFrame>
        <p:nvGraphicFramePr>
          <p:cNvPr id="12" name="Chart"/>
          <p:cNvGraphicFramePr/>
          <p:nvPr/>
        </p:nvGraphicFramePr>
        <p:xfrm>
          <a:off xmlns:a="http://schemas.openxmlformats.org/drawingml/2006/main" x="571500" y="3505200"/>
          <a:ext xmlns:a="http://schemas.openxmlformats.org/drawingml/2006/main" cx="6191250" cy="2114550"/>
        </p:xfrm>
        <a:graphic xmlns:a="http://schemas.openxmlformats.org/drawingml/2006/main">
          <a:graphicData uri="http://schemas.openxmlformats.org/drawingml/2006/chart">
            <c:chart xmlns:r="http://schemas.openxmlformats.org/officeDocument/2006/relationships" xmlns:c="http://schemas.openxmlformats.org/drawingml/2006/chart" r:id="R4ca5d184c10f44e0"/>
          </a:graphicData>
        </a:graphic>
      </p:graphicFrame>
      <p:sp>
        <p:nvSpPr>
          <p:cNvPr id="6" name="">
            <a:extLst xmlns:a="http://schemas.openxmlformats.org/drawingml/2006/main">
              <a:ext uri="{FF2B5EF4-FFF2-40B4-BE49-F238E27FC236}">
                <a16:creationId xmlns:a16="http://schemas.microsoft.com/office/drawing/2014/main" id="{1D2EED96-71A4-4F8D-981C-76937843FBBA}"/>
              </a:ext>
            </a:extLst>
          </p:cNvPr>
          <p:cNvSpPr>
            <a:spLocks xmlns:a="http://schemas.openxmlformats.org/drawingml/2006/main" noGrp="1"/>
          </p:cNvSpPr>
          <p:nvPr/>
        </p:nvSpPr>
        <p:spPr>
          <a:xfrm xmlns:a="http://schemas.openxmlformats.org/drawingml/2006/main">
            <a:off x="7286625" y="3686175"/>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29.09: +5 URL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Walkie, FarSail, Portal,</a:t>
            </a:r>
          </a:p>
          <a:p xmlns:a="http://schemas.openxmlformats.org/drawingml/2006/main">
            <a:pPr>
              <a:defRPr sz="1950" b="0">
                <a:solidFill>
                  <a:srgbClr val="19202E"/>
                </a:solidFill>
                <a:latin typeface="Arial"/>
                <a:ea typeface="Arial"/>
                <a:cs typeface="Arial"/>
              </a:defRPr>
            </a:pPr>
            <a:r>
              <a:rPr sz="1950" b="0">
                <a:solidFill>
                  <a:srgbClr val="19202E"/>
                </a:solidFill>
                <a:latin typeface="Arial"/>
                <a:ea typeface="Arial"/>
                <a:cs typeface="Arial"/>
              </a:rPr>
              <a:t>ahole, ErisAuth</a:t>
            </a:r>
          </a:p>
        </p:txBody>
      </p:sp>
      <p:sp>
        <p:nvSpPr>
          <p:cNvPr id="7" name="">
            <a:extLst xmlns:a="http://schemas.openxmlformats.org/drawingml/2006/main">
              <a:ext uri="{FF2B5EF4-FFF2-40B4-BE49-F238E27FC236}">
                <a16:creationId xmlns:a16="http://schemas.microsoft.com/office/drawing/2014/main" id="{D86850F5-BF57-4F5A-9FBE-3C4B5133F918}"/>
              </a:ext>
            </a:extLst>
          </p:cNvPr>
          <p:cNvSpPr>
            <a:spLocks xmlns:a="http://schemas.openxmlformats.org/drawingml/2006/main" noGrp="1"/>
          </p:cNvSpPr>
          <p:nvPr/>
        </p:nvSpPr>
        <p:spPr>
          <a:xfrm xmlns:a="http://schemas.openxmlformats.org/drawingml/2006/main">
            <a:off x="666750" y="57531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E656E"/>
                </a:solidFill>
                <a:latin typeface="Arial"/>
                <a:ea typeface="Arial"/>
                <a:cs typeface="Arial"/>
              </a:defRPr>
            </a:pPr>
            <a:r>
              <a:rPr sz="1425" b="0">
                <a:solidFill>
                  <a:srgbClr val="5E656E"/>
                </a:solidFill>
                <a:latin typeface="Arial"/>
                <a:ea typeface="Arial"/>
                <a:cs typeface="Arial"/>
              </a:rPr>
              <a:t>Каталог включає суміжні референси. Новостворені проєкти за останні 30 днів не підраховано.</a:t>
            </a:r>
          </a:p>
        </p:txBody>
      </p:sp>
    </p:spTree>
    <p:extLst>
      <p:ext uri="{BB962C8B-B14F-4D97-AF65-F5344CB8AC3E}">
        <p14:creationId xmlns:p14="http://schemas.microsoft.com/office/powerpoint/2010/main" val="820290113"/>
      </p:ext>
    </p:extLst>
  </p:cSld>
</p:sld>
</file>

<file path=ppt/slides/slide7.xml><?xml version="1.0" encoding="utf-8"?>
<p:sld xmlns:p="http://schemas.openxmlformats.org/presentationml/2006/main">
  <p:cSld>
    <p:bg>
      <p:bgPr>
        <a:solidFill xmlns:a="http://schemas.openxmlformats.org/drawingml/2006/main">
          <a:srgbClr val="FD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1011BD-ABE1-4912-ACA8-828A95E561C9}"/>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9202E"/>
                </a:solidFill>
                <a:latin typeface="Arial"/>
                <a:ea typeface="Arial"/>
                <a:cs typeface="Arial"/>
              </a:defRPr>
            </a:pPr>
            <a:r>
              <a:rPr sz="3600" b="1">
                <a:solidFill>
                  <a:srgbClr val="19202E"/>
                </a:solidFill>
                <a:latin typeface="Arial"/>
                <a:ea typeface="Arial"/>
                <a:cs typeface="Arial"/>
              </a:rPr>
              <a:t>Стан проєкту</a:t>
            </a:r>
          </a:p>
        </p:txBody>
      </p:sp>
      <p:sp>
        <p:nvSpPr>
          <p:cNvPr id="2" name="">
            <a:extLst xmlns:a="http://schemas.openxmlformats.org/drawingml/2006/main">
              <a:ext uri="{FF2B5EF4-FFF2-40B4-BE49-F238E27FC236}">
                <a16:creationId xmlns:a16="http://schemas.microsoft.com/office/drawing/2014/main" id="{48D50BE5-097E-40B3-A69F-4799CA709BCB}"/>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656E"/>
                </a:solidFill>
                <a:latin typeface="Arial"/>
                <a:ea typeface="Arial"/>
                <a:cs typeface="Arial"/>
              </a:defRPr>
            </a:pPr>
            <a:r>
              <a:rPr sz="1275" b="0">
                <a:solidFill>
                  <a:srgbClr val="5E656E"/>
                </a:solidFill>
                <a:latin typeface="Arial"/>
                <a:ea typeface="Arial"/>
                <a:cs typeface="Arial"/>
              </a:rPr>
              <a:t>VIDA   /   7 з 8</a:t>
            </a:r>
          </a:p>
        </p:txBody>
      </p:sp>
      <p:sp>
        <p:nvSpPr>
          <p:cNvPr id="3" name="">
            <a:extLst xmlns:a="http://schemas.openxmlformats.org/drawingml/2006/main">
              <a:ext uri="{FF2B5EF4-FFF2-40B4-BE49-F238E27FC236}">
                <a16:creationId xmlns:a16="http://schemas.microsoft.com/office/drawing/2014/main" id="{C5A45B8F-27A6-4A85-97DF-62A2793110FF}"/>
              </a:ext>
            </a:extLst>
          </p:cNvPr>
          <p:cNvSpPr>
            <a:spLocks xmlns:a="http://schemas.openxmlformats.org/drawingml/2006/main" noGrp="1"/>
          </p:cNvSpPr>
          <p:nvPr/>
        </p:nvSpPr>
        <p:spPr>
          <a:xfrm xmlns:a="http://schemas.openxmlformats.org/drawingml/2006/main">
            <a:off x="666750" y="19526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Реалізовано</a:t>
            </a:r>
          </a:p>
        </p:txBody>
      </p:sp>
      <p:sp>
        <p:nvSpPr>
          <p:cNvPr id="4" name="">
            <a:extLst xmlns:a="http://schemas.openxmlformats.org/drawingml/2006/main">
              <a:ext uri="{FF2B5EF4-FFF2-40B4-BE49-F238E27FC236}">
                <a16:creationId xmlns:a16="http://schemas.microsoft.com/office/drawing/2014/main" id="{D2C150ED-0F02-4977-B68D-561D167DE219}"/>
              </a:ext>
            </a:extLst>
          </p:cNvPr>
          <p:cNvSpPr>
            <a:spLocks xmlns:a="http://schemas.openxmlformats.org/drawingml/2006/main" noGrp="1"/>
          </p:cNvSpPr>
          <p:nvPr/>
        </p:nvSpPr>
        <p:spPr>
          <a:xfrm xmlns:a="http://schemas.openxmlformats.org/drawingml/2006/main">
            <a:off x="4191000" y="19526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Презентаційний сайт</a:t>
            </a:r>
          </a:p>
        </p:txBody>
      </p:sp>
      <p:sp>
        <p:nvSpPr>
          <p:cNvPr id="5" name="">
            <a:extLst xmlns:a="http://schemas.openxmlformats.org/drawingml/2006/main">
              <a:ext uri="{FF2B5EF4-FFF2-40B4-BE49-F238E27FC236}">
                <a16:creationId xmlns:a16="http://schemas.microsoft.com/office/drawing/2014/main" id="{14FB1FB1-FCD0-4AB3-9DC8-168E20F9387F}"/>
              </a:ext>
            </a:extLst>
          </p:cNvPr>
          <p:cNvSpPr>
            <a:spLocks xmlns:a="http://schemas.openxmlformats.org/drawingml/2006/main" noGrp="1"/>
          </p:cNvSpPr>
          <p:nvPr/>
        </p:nvSpPr>
        <p:spPr>
          <a:xfrm xmlns:a="http://schemas.openxmlformats.org/drawingml/2006/main">
            <a:off x="666750" y="28956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Прототип</a:t>
            </a:r>
          </a:p>
        </p:txBody>
      </p:sp>
      <p:sp>
        <p:nvSpPr>
          <p:cNvPr id="6" name="">
            <a:extLst xmlns:a="http://schemas.openxmlformats.org/drawingml/2006/main">
              <a:ext uri="{FF2B5EF4-FFF2-40B4-BE49-F238E27FC236}">
                <a16:creationId xmlns:a16="http://schemas.microsoft.com/office/drawing/2014/main" id="{7B09AA1B-32F8-4069-98BC-0AF8FD69BCAA}"/>
              </a:ext>
            </a:extLst>
          </p:cNvPr>
          <p:cNvSpPr>
            <a:spLocks xmlns:a="http://schemas.openxmlformats.org/drawingml/2006/main" noGrp="1"/>
          </p:cNvSpPr>
          <p:nvPr/>
        </p:nvSpPr>
        <p:spPr>
          <a:xfrm xmlns:a="http://schemas.openxmlformats.org/drawingml/2006/main">
            <a:off x="4191000" y="28956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Розмова, нотатка, задача</a:t>
            </a:r>
          </a:p>
        </p:txBody>
      </p:sp>
      <p:sp>
        <p:nvSpPr>
          <p:cNvPr id="7" name="">
            <a:extLst xmlns:a="http://schemas.openxmlformats.org/drawingml/2006/main">
              <a:ext uri="{FF2B5EF4-FFF2-40B4-BE49-F238E27FC236}">
                <a16:creationId xmlns:a16="http://schemas.microsoft.com/office/drawing/2014/main" id="{878847F8-7163-4B2E-B86B-52006C6B4DCD}"/>
              </a:ext>
            </a:extLst>
          </p:cNvPr>
          <p:cNvSpPr>
            <a:spLocks xmlns:a="http://schemas.openxmlformats.org/drawingml/2006/main" noGrp="1"/>
          </p:cNvSpPr>
          <p:nvPr/>
        </p:nvSpPr>
        <p:spPr>
          <a:xfrm xmlns:a="http://schemas.openxmlformats.org/drawingml/2006/main">
            <a:off x="666750" y="383857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Заплановано</a:t>
            </a:r>
          </a:p>
        </p:txBody>
      </p:sp>
      <p:sp>
        <p:nvSpPr>
          <p:cNvPr id="8" name="">
            <a:extLst xmlns:a="http://schemas.openxmlformats.org/drawingml/2006/main">
              <a:ext uri="{FF2B5EF4-FFF2-40B4-BE49-F238E27FC236}">
                <a16:creationId xmlns:a16="http://schemas.microsoft.com/office/drawing/2014/main" id="{29D7E7E9-D0F5-4EF7-95BE-E1575190D60C}"/>
              </a:ext>
            </a:extLst>
          </p:cNvPr>
          <p:cNvSpPr>
            <a:spLocks xmlns:a="http://schemas.openxmlformats.org/drawingml/2006/main" noGrp="1"/>
          </p:cNvSpPr>
          <p:nvPr/>
        </p:nvSpPr>
        <p:spPr>
          <a:xfrm xmlns:a="http://schemas.openxmlformats.org/drawingml/2006/main">
            <a:off x="4191000" y="383857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Продукт і застосунки</a:t>
            </a:r>
          </a:p>
        </p:txBody>
      </p:sp>
      <p:sp>
        <p:nvSpPr>
          <p:cNvPr id="9" name="">
            <a:extLst xmlns:a="http://schemas.openxmlformats.org/drawingml/2006/main">
              <a:ext uri="{FF2B5EF4-FFF2-40B4-BE49-F238E27FC236}">
                <a16:creationId xmlns:a16="http://schemas.microsoft.com/office/drawing/2014/main" id="{4A4BB13E-054F-4388-BF6A-AEE3E5F51F34}"/>
              </a:ext>
            </a:extLst>
          </p:cNvPr>
          <p:cNvSpPr>
            <a:spLocks xmlns:a="http://schemas.openxmlformats.org/drawingml/2006/main" noGrp="1"/>
          </p:cNvSpPr>
          <p:nvPr/>
        </p:nvSpPr>
        <p:spPr>
          <a:xfrm xmlns:a="http://schemas.openxmlformats.org/drawingml/2006/main">
            <a:off x="666750" y="47815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74E36"/>
                </a:solidFill>
                <a:latin typeface="Arial"/>
                <a:ea typeface="Arial"/>
                <a:cs typeface="Arial"/>
              </a:defRPr>
            </a:pPr>
            <a:r>
              <a:rPr sz="2175" b="1">
                <a:solidFill>
                  <a:srgbClr val="A74E36"/>
                </a:solidFill>
                <a:latin typeface="Arial"/>
                <a:ea typeface="Arial"/>
                <a:cs typeface="Arial"/>
              </a:rPr>
              <a:t>Відкрите рішення</a:t>
            </a:r>
          </a:p>
        </p:txBody>
      </p:sp>
      <p:sp>
        <p:nvSpPr>
          <p:cNvPr id="10" name="">
            <a:extLst xmlns:a="http://schemas.openxmlformats.org/drawingml/2006/main">
              <a:ext uri="{FF2B5EF4-FFF2-40B4-BE49-F238E27FC236}">
                <a16:creationId xmlns:a16="http://schemas.microsoft.com/office/drawing/2014/main" id="{1F2FE2F3-2212-459A-94B6-026BF6D7D257}"/>
              </a:ext>
            </a:extLst>
          </p:cNvPr>
          <p:cNvSpPr>
            <a:spLocks xmlns:a="http://schemas.openxmlformats.org/drawingml/2006/main" noGrp="1"/>
          </p:cNvSpPr>
          <p:nvPr/>
        </p:nvSpPr>
        <p:spPr>
          <a:xfrm xmlns:a="http://schemas.openxmlformats.org/drawingml/2006/main">
            <a:off x="4191000" y="47815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202E"/>
                </a:solidFill>
                <a:latin typeface="Arial"/>
                <a:ea typeface="Arial"/>
                <a:cs typeface="Arial"/>
              </a:defRPr>
            </a:pPr>
            <a:r>
              <a:rPr sz="2175" b="0">
                <a:solidFill>
                  <a:srgbClr val="19202E"/>
                </a:solidFill>
                <a:latin typeface="Arial"/>
                <a:ea typeface="Arial"/>
                <a:cs typeface="Arial"/>
              </a:rPr>
              <a:t>Реалізаційні перевірки</a:t>
            </a:r>
          </a:p>
        </p:txBody>
      </p:sp>
      <p:sp>
        <p:nvSpPr>
          <p:cNvPr id="11" name="">
            <a:extLst xmlns:a="http://schemas.openxmlformats.org/drawingml/2006/main">
              <a:ext uri="{FF2B5EF4-FFF2-40B4-BE49-F238E27FC236}">
                <a16:creationId xmlns:a16="http://schemas.microsoft.com/office/drawing/2014/main" id="{4A68522C-9DDA-4BAD-A5C9-DE5467B7682F}"/>
              </a:ext>
            </a:extLst>
          </p:cNvPr>
          <p:cNvSpPr>
            <a:spLocks xmlns:a="http://schemas.openxmlformats.org/drawingml/2006/main" noGrp="1"/>
          </p:cNvSpPr>
          <p:nvPr/>
        </p:nvSpPr>
        <p:spPr>
          <a:xfrm xmlns:a="http://schemas.openxmlformats.org/drawingml/2006/main">
            <a:off x="666750" y="5781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E656E"/>
                </a:solidFill>
                <a:latin typeface="Arial"/>
                <a:ea typeface="Arial"/>
                <a:cs typeface="Arial"/>
              </a:defRPr>
            </a:pPr>
            <a:r>
              <a:rPr sz="1650" b="0">
                <a:solidFill>
                  <a:srgbClr val="5E656E"/>
                </a:solidFill>
                <a:latin typeface="Arial"/>
                <a:ea typeface="Arial"/>
                <a:cs typeface="Arial"/>
              </a:rPr>
              <a:t>Статуси описують конкретні результати. Дату релізу не оголошено.</a:t>
            </a:r>
          </a:p>
        </p:txBody>
      </p:sp>
    </p:spTree>
    <p:extLst>
      <p:ext uri="{BB962C8B-B14F-4D97-AF65-F5344CB8AC3E}">
        <p14:creationId xmlns:p14="http://schemas.microsoft.com/office/powerpoint/2010/main" val="750422866"/>
      </p:ext>
    </p:extLst>
  </p:cSld>
</p:sld>
</file>

<file path=ppt/slides/slide8.xml><?xml version="1.0" encoding="utf-8"?>
<p:sld xmlns:p="http://schemas.openxmlformats.org/presentationml/2006/main">
  <p:cSld>
    <p:bg>
      <p:bgPr>
        <a:solidFill xmlns:a="http://schemas.openxmlformats.org/drawingml/2006/main">
          <a:srgbClr val="2D323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E2015E-D115-4C1D-885F-B7514B9BAA68}"/>
              </a:ext>
            </a:extLst>
          </p:cNvPr>
          <p:cNvSpPr>
            <a:spLocks xmlns:a="http://schemas.openxmlformats.org/drawingml/2006/main" noGrp="1"/>
          </p:cNvSpPr>
          <p:nvPr/>
        </p:nvSpPr>
        <p:spPr>
          <a:xfrm xmlns:a="http://schemas.openxmlformats.org/drawingml/2006/main">
            <a:off x="666750" y="523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7F1"/>
                </a:solidFill>
                <a:latin typeface="Arial"/>
                <a:ea typeface="Arial"/>
                <a:cs typeface="Arial"/>
              </a:defRPr>
            </a:pPr>
            <a:r>
              <a:rPr sz="3600" b="1">
                <a:solidFill>
                  <a:srgbClr val="FFF7F1"/>
                </a:solidFill>
                <a:latin typeface="Arial"/>
                <a:ea typeface="Arial"/>
                <a:cs typeface="Arial"/>
              </a:rPr>
              <a:t>Перший внесок у VIDA</a:t>
            </a:r>
          </a:p>
        </p:txBody>
      </p:sp>
      <p:sp>
        <p:nvSpPr>
          <p:cNvPr id="2" name="">
            <a:extLst xmlns:a="http://schemas.openxmlformats.org/drawingml/2006/main">
              <a:ext uri="{FF2B5EF4-FFF2-40B4-BE49-F238E27FC236}">
                <a16:creationId xmlns:a16="http://schemas.microsoft.com/office/drawing/2014/main" id="{10E776A8-5BE5-488F-9377-74F0EA2E2420}"/>
              </a:ext>
            </a:extLst>
          </p:cNvPr>
          <p:cNvSpPr>
            <a:spLocks xmlns:a="http://schemas.openxmlformats.org/drawingml/2006/main" noGrp="1"/>
          </p:cNvSpPr>
          <p:nvPr/>
        </p:nvSpPr>
        <p:spPr>
          <a:xfrm xmlns:a="http://schemas.openxmlformats.org/drawingml/2006/main">
            <a:off x="66675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DD4CD"/>
                </a:solidFill>
                <a:latin typeface="Arial"/>
                <a:ea typeface="Arial"/>
                <a:cs typeface="Arial"/>
              </a:defRPr>
            </a:pPr>
            <a:r>
              <a:rPr sz="1275" b="0">
                <a:solidFill>
                  <a:srgbClr val="DDD4CD"/>
                </a:solidFill>
                <a:latin typeface="Arial"/>
                <a:ea typeface="Arial"/>
                <a:cs typeface="Arial"/>
              </a:rPr>
              <a:t>VIDA   /   8 з 8</a:t>
            </a:r>
          </a:p>
        </p:txBody>
      </p:sp>
      <p:sp>
        <p:nvSpPr>
          <p:cNvPr id="3" name="">
            <a:extLst xmlns:a="http://schemas.openxmlformats.org/drawingml/2006/main">
              <a:ext uri="{FF2B5EF4-FFF2-40B4-BE49-F238E27FC236}">
                <a16:creationId xmlns:a16="http://schemas.microsoft.com/office/drawing/2014/main" id="{4CD089E0-B1F2-42D1-9A70-ECF37496C4C0}"/>
              </a:ext>
            </a:extLst>
          </p:cNvPr>
          <p:cNvSpPr>
            <a:spLocks xmlns:a="http://schemas.openxmlformats.org/drawingml/2006/main" noGrp="1"/>
          </p:cNvSpPr>
          <p:nvPr/>
        </p:nvSpPr>
        <p:spPr>
          <a:xfrm xmlns:a="http://schemas.openxmlformats.org/drawingml/2006/main">
            <a:off x="666750" y="2000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CA88F"/>
                </a:solidFill>
                <a:latin typeface="Arial"/>
                <a:ea typeface="Arial"/>
                <a:cs typeface="Arial"/>
              </a:defRPr>
            </a:pPr>
            <a:r>
              <a:rPr sz="2400" b="1">
                <a:solidFill>
                  <a:srgbClr val="DCA88F"/>
                </a:solidFill>
                <a:latin typeface="Arial"/>
                <a:ea typeface="Arial"/>
                <a:cs typeface="Arial"/>
              </a:rPr>
              <a:t>Rust   /   Flutter   /   Тестування   /   UX   /   Документація</a:t>
            </a:r>
          </a:p>
        </p:txBody>
      </p:sp>
      <p:sp>
        <p:nvSpPr>
          <p:cNvPr id="4" name="">
            <a:extLst xmlns:a="http://schemas.openxmlformats.org/drawingml/2006/main">
              <a:ext uri="{FF2B5EF4-FFF2-40B4-BE49-F238E27FC236}">
                <a16:creationId xmlns:a16="http://schemas.microsoft.com/office/drawing/2014/main" id="{1D9D9DD2-2778-4117-9D76-9C6351AA8529}"/>
              </a:ext>
            </a:extLst>
          </p:cNvPr>
          <p:cNvSpPr>
            <a:spLocks xmlns:a="http://schemas.openxmlformats.org/drawingml/2006/main" noGrp="1"/>
          </p:cNvSpPr>
          <p:nvPr/>
        </p:nvSpPr>
        <p:spPr>
          <a:xfrm xmlns:a="http://schemas.openxmlformats.org/drawingml/2006/main">
            <a:off x="666750" y="304800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Оберіть невелику ділянку.</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Узгодьте зміну через репозиторій.</a:t>
            </a:r>
          </a:p>
          <a:p xmlns:a="http://schemas.openxmlformats.org/drawingml/2006/main">
            <a:pPr>
              <a:defRPr sz="2550" b="0">
                <a:solidFill>
                  <a:srgbClr val="FFF7F1"/>
                </a:solidFill>
                <a:latin typeface="Arial"/>
                <a:ea typeface="Arial"/>
                <a:cs typeface="Arial"/>
              </a:defRPr>
            </a:pPr>
            <a:r>
              <a:rPr sz="2550" b="0">
                <a:solidFill>
                  <a:srgbClr val="FFF7F1"/>
                </a:solidFill>
                <a:latin typeface="Arial"/>
                <a:ea typeface="Arial"/>
                <a:cs typeface="Arial"/>
              </a:rPr>
              <a:t>Додайте результат і спосіб перевірки.</a:t>
            </a:r>
          </a:p>
        </p:txBody>
      </p:sp>
      <p:sp>
        <p:nvSpPr>
          <p:cNvPr id="5" name="">
            <a:extLst xmlns:a="http://schemas.openxmlformats.org/drawingml/2006/main">
              <a:ext uri="{FF2B5EF4-FFF2-40B4-BE49-F238E27FC236}">
                <a16:creationId xmlns:a16="http://schemas.microsoft.com/office/drawing/2014/main" id="{D0DF8E87-B0C9-4138-9BEF-06F8E9C11294}"/>
              </a:ext>
            </a:extLst>
          </p:cNvPr>
          <p:cNvSpPr>
            <a:spLocks xmlns:a="http://schemas.openxmlformats.org/drawingml/2006/main" noGrp="1"/>
          </p:cNvSpPr>
          <p:nvPr/>
        </p:nvSpPr>
        <p:spPr>
          <a:xfrm xmlns:a="http://schemas.openxmlformats.org/drawingml/2006/main">
            <a:off x="666750" y="5286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CA88F"/>
                </a:solidFill>
                <a:latin typeface="Arial"/>
                <a:ea typeface="Arial"/>
                <a:cs typeface="Arial"/>
              </a:defRPr>
            </a:pPr>
            <a:r>
              <a:rPr sz="2325" b="1">
                <a:solidFill>
                  <a:srgbClr val="DCA88F"/>
                </a:solidFill>
                <a:latin typeface="Arial"/>
                <a:ea typeface="Arial"/>
                <a:cs typeface="Arial"/>
              </a:rPr>
              <a:t>github.com/pomazanbohdan/vida</a:t>
            </a:r>
          </a:p>
        </p:txBody>
      </p:sp>
    </p:spTree>
    <p:extLst>
      <p:ext uri="{BB962C8B-B14F-4D97-AF65-F5344CB8AC3E}">
        <p14:creationId xmlns:p14="http://schemas.microsoft.com/office/powerpoint/2010/main" val="6993777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2026-09-29T07:34:05.4350000Z</dcterms:created>
  <dcterms:modified xsi:type="dcterms:W3CDTF">2026-09-29T07:34:05.4350000Z</dcterms:modified>
</coreProperties>
</file>